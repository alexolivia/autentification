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4" r:id="rId12"/>
    <p:sldId id="266" r:id="rId13"/>
    <p:sldId id="267" r:id="rId14"/>
    <p:sldId id="268" r:id="rId15"/>
    <p:sldId id="285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69" r:id="rId30"/>
    <p:sldId id="270" r:id="rId31"/>
    <p:sldId id="28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ookingSysteme" id="{7359EC9A-146F-48CD-9BE8-F90BBB33674B}">
          <p14:sldIdLst>
            <p14:sldId id="256"/>
            <p14:sldId id="257"/>
          </p14:sldIdLst>
        </p14:section>
        <p14:section name="Contexte &amp; Problématique" id="{F2FD3CD8-54EC-43C3-998D-0236DA2A6B1B}">
          <p14:sldIdLst>
            <p14:sldId id="258"/>
            <p14:sldId id="259"/>
          </p14:sldIdLst>
        </p14:section>
        <p14:section name="Objectifs du projet" id="{5F752F5A-09D9-4634-9A14-2E6C2FE07198}">
          <p14:sldIdLst>
            <p14:sldId id="260"/>
            <p14:sldId id="261"/>
          </p14:sldIdLst>
        </p14:section>
        <p14:section name="Architecture-Technique" id="{FC87A6E5-B416-47A8-A025-A23EE1AD9BB5}">
          <p14:sldIdLst>
            <p14:sldId id="262"/>
            <p14:sldId id="263"/>
            <p14:sldId id="264"/>
          </p14:sldIdLst>
        </p14:section>
        <p14:section name="Microservices" id="{48188BBF-8A8A-4B01-91DF-E4EDBA5BE236}">
          <p14:sldIdLst>
            <p14:sldId id="265"/>
            <p14:sldId id="284"/>
            <p14:sldId id="266"/>
            <p14:sldId id="267"/>
            <p14:sldId id="268"/>
            <p14:sldId id="285"/>
          </p14:sldIdLst>
        </p14:section>
        <p14:section name="Stack Technique &amp; Outils" id="{E2F71C29-02A4-452D-85B4-2E466E5E99B6}">
          <p14:sldIdLst>
            <p14:sldId id="271"/>
            <p14:sldId id="272"/>
          </p14:sldIdLst>
        </p14:section>
        <p14:section name="Maquettes &amp; UX" id="{FA8A3FD0-0527-48BA-A6C6-F2457577585B}">
          <p14:sldIdLst>
            <p14:sldId id="273"/>
            <p14:sldId id="274"/>
          </p14:sldIdLst>
        </p14:section>
        <p14:section name="Organisation &amp; Methodologie" id="{E20F4237-7242-4CEC-B4B3-CC737F4348C8}">
          <p14:sldIdLst>
            <p14:sldId id="275"/>
            <p14:sldId id="276"/>
            <p14:sldId id="277"/>
          </p14:sldIdLst>
        </p14:section>
        <p14:section name="Etat d'avancement" id="{7A4EF232-5A55-4F3E-916D-DA6EFF3BD201}">
          <p14:sldIdLst>
            <p14:sldId id="278"/>
            <p14:sldId id="279"/>
            <p14:sldId id="280"/>
          </p14:sldIdLst>
        </p14:section>
        <p14:section name="Demo &amp; Perspectives" id="{C86A367E-8022-4BDC-B2ED-2A046F1F8D4B}">
          <p14:sldIdLst>
            <p14:sldId id="281"/>
            <p14:sldId id="282"/>
            <p14:sldId id="283"/>
          </p14:sldIdLst>
        </p14:section>
        <p14:section name="Specificites Contexte Africain" id="{8751A083-73F3-4266-B45B-E32D507DEE7B}">
          <p14:sldIdLst>
            <p14:sldId id="269"/>
            <p14:sldId id="270"/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2218" autoAdjust="0"/>
  </p:normalViewPr>
  <p:slideViewPr>
    <p:cSldViewPr snapToGrid="0" snapToObjects="1">
      <p:cViewPr varScale="1">
        <p:scale>
          <a:sx n="63" d="100"/>
          <a:sy n="63" d="100"/>
        </p:scale>
        <p:origin x="99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F14B09-96E6-4867-9814-99C97FC4170F}" type="datetimeFigureOut">
              <a:rPr lang="fr-FR" smtClean="0"/>
              <a:t>13/02/2026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11C78E-4A47-450E-9561-39FC3A31563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2969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1C78E-4A47-450E-9561-39FC3A315639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456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090BB-CA45-4A8B-B792-90E82D6C2465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9AECE-77D8-4A7D-98D2-59C95FD38DAF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54C2D-ED2F-4FEC-8539-3805FB948415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5DE13-572F-4447-938D-59E4A1846331}" type="datetime1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06190-9AA1-400C-B34E-C4666C3C3BEB}" type="datetime1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D6763-D396-417B-8ABA-8BE4D93B3E8A}" type="datetime1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3AEC2-09EE-4D51-9300-AD7404641142}" type="datetime1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1A09B-B0C4-4CF2-83DD-78CFDC9B088E}" type="datetime1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621D6-427B-43C8-9EA2-4BF510FF257D}" type="datetime1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90D66-1D20-4891-AC8C-BFEE254A4BC0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20FEC-AC22-4F4E-B616-7668DED6D4D3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3409B5-5A00-44C7-B9F1-0C64B715589E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929487" y="699141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"/>
              </a:defRPr>
            </a:pPr>
            <a:r>
              <a:rPr lang="fr-FR" noProof="0" dirty="0"/>
              <a:t>BookingSysteme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942725"/>
            <a:ext cx="94183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96C7"/>
                </a:solidFill>
                <a:latin typeface="Segoe UI"/>
              </a:defRPr>
            </a:pPr>
            <a:r>
              <a:rPr lang="fr-FR" noProof="0" dirty="0"/>
              <a:t>Plateforme de réservation multi-services</a:t>
            </a:r>
            <a:br>
              <a:rPr lang="fr-FR" noProof="0" dirty="0"/>
            </a:br>
            <a:r>
              <a:rPr lang="fr-FR" noProof="0" dirty="0"/>
              <a:t>Restauration | Hébergement | Transport | Prestations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186309"/>
            <a:ext cx="3931920" cy="36576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1386687" y="3488832"/>
            <a:ext cx="941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Segoe UI"/>
              </a:defRPr>
            </a:pPr>
            <a:r>
              <a:rPr lang="fr-FR" noProof="0" dirty="0"/>
              <a:t>Allocation multi-ressources, optimisation d'occupation</a:t>
            </a:r>
            <a:br>
              <a:rPr lang="fr-FR" noProof="0" dirty="0"/>
            </a:br>
            <a:r>
              <a:rPr lang="fr-FR" noProof="0" dirty="0"/>
              <a:t>et disponibilité en temps réel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118577" y="3951159"/>
            <a:ext cx="23084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77F00"/>
                </a:solidFill>
                <a:latin typeface="Segoe UI"/>
              </a:defRPr>
            </a:pPr>
            <a:r>
              <a:rPr lang="fr-FR" sz="2400" noProof="0" dirty="0"/>
              <a:t> Equipe PING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28829" y="125557"/>
            <a:ext cx="6675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Segoe UI"/>
              </a:defRPr>
            </a:pPr>
            <a:r>
              <a:rPr lang="fr-FR" noProof="0" dirty="0"/>
              <a:t>Février 2026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5CEBD59-88E0-7337-6131-346BA8D05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2159" y="4467193"/>
            <a:ext cx="2570879" cy="228567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6C107AC3-F70A-F61D-B3D8-3440B775BBD4}"/>
              </a:ext>
            </a:extLst>
          </p:cNvPr>
          <p:cNvSpPr/>
          <p:nvPr/>
        </p:nvSpPr>
        <p:spPr>
          <a:xfrm>
            <a:off x="11366389" y="433334"/>
            <a:ext cx="746607" cy="64633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F3EC604-481C-5615-3B8F-975462C7C4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523" b="18136"/>
          <a:stretch>
            <a:fillRect/>
          </a:stretch>
        </p:blipFill>
        <p:spPr>
          <a:xfrm rot="20125968">
            <a:off x="4384552" y="4489741"/>
            <a:ext cx="2208806" cy="231070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C37205B-A9C5-72F0-AAB5-310AC0DDE8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3729" y="4582360"/>
            <a:ext cx="1995847" cy="217050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968058D-4CCD-6B46-8A94-4DF489A88B3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686" r="37166" b="59838"/>
          <a:stretch>
            <a:fillRect/>
          </a:stretch>
        </p:blipFill>
        <p:spPr>
          <a:xfrm>
            <a:off x="1241177" y="4514360"/>
            <a:ext cx="2873623" cy="219133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rPr lang="fr-FR" noProof="0" dirty="0"/>
              <a:t>Sommaire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213759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C7"/>
                </a:solidFill>
                <a:latin typeface="Segoe UI"/>
              </a:defRPr>
            </a:pPr>
            <a:r>
              <a:rPr lang="fr-FR" noProof="0" dirty="0"/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16503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lang="fr-FR" noProof="0" dirty="0"/>
              <a:t>Contexte &amp; Problématique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3759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C7"/>
                </a:solidFill>
                <a:latin typeface="Segoe UI"/>
              </a:defRPr>
            </a:pPr>
            <a:r>
              <a:rPr lang="fr-FR" noProof="0" dirty="0"/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216503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lang="fr-FR" noProof="0" dirty="0"/>
              <a:t>Objectifs du projet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5199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C7"/>
                </a:solidFill>
                <a:latin typeface="Segoe UI"/>
              </a:defRPr>
            </a:pPr>
            <a:r>
              <a:rPr lang="fr-FR" noProof="0" dirty="0"/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07943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lang="fr-FR" noProof="0" dirty="0"/>
              <a:t>Architecture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05199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C7"/>
                </a:solidFill>
                <a:latin typeface="Segoe UI"/>
              </a:defRPr>
            </a:pPr>
            <a:r>
              <a:rPr lang="fr-FR" noProof="0" dirty="0"/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307943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lang="fr-FR" noProof="0" dirty="0"/>
              <a:t>Les micro-services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6639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C7"/>
                </a:solidFill>
                <a:latin typeface="Segoe UI"/>
              </a:defRPr>
            </a:pPr>
            <a:r>
              <a:rPr lang="fr-FR" noProof="0" dirty="0"/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96639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C7"/>
                </a:solidFill>
                <a:latin typeface="Segoe UI"/>
              </a:defRPr>
            </a:pPr>
            <a:r>
              <a:rPr lang="fr-FR" noProof="0" dirty="0"/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99383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lang="fr-FR" noProof="0" dirty="0"/>
              <a:t>Stack technique &amp; outils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8079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C7"/>
                </a:solidFill>
                <a:latin typeface="Segoe UI"/>
              </a:defRPr>
            </a:pPr>
            <a:r>
              <a:rPr lang="fr-FR" noProof="0" dirty="0"/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90823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lang="fr-FR" noProof="0" dirty="0"/>
              <a:t>Organisation &amp; méthodologie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88079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C7"/>
                </a:solidFill>
                <a:latin typeface="Segoe UI"/>
              </a:defRPr>
            </a:pPr>
            <a:r>
              <a:rPr lang="fr-FR" noProof="0" dirty="0"/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96639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lang="fr-FR" noProof="0" dirty="0"/>
              <a:t>Maquettes &amp; UX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490823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lang="fr-FR" noProof="0" dirty="0"/>
              <a:t>Etat d'avancement Bilan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17588A-EEBF-544A-A11B-7209FC24BEAE}"/>
              </a:ext>
            </a:extLst>
          </p:cNvPr>
          <p:cNvSpPr txBox="1"/>
          <p:nvPr/>
        </p:nvSpPr>
        <p:spPr>
          <a:xfrm>
            <a:off x="914400" y="5708280"/>
            <a:ext cx="548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C7"/>
                </a:solidFill>
                <a:latin typeface="Segoe UI"/>
              </a:defRPr>
            </a:pPr>
            <a:r>
              <a:rPr lang="fr-FR" noProof="0" dirty="0"/>
              <a:t>09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94DF06-E7D7-CAAA-C1E9-E6D435E30AE5}"/>
              </a:ext>
            </a:extLst>
          </p:cNvPr>
          <p:cNvSpPr txBox="1"/>
          <p:nvPr/>
        </p:nvSpPr>
        <p:spPr>
          <a:xfrm>
            <a:off x="1554480" y="573571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lang="fr-FR" noProof="0" dirty="0"/>
              <a:t>Perspectives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188DD1E-19C3-5720-80A4-871136E9C687}"/>
              </a:ext>
            </a:extLst>
          </p:cNvPr>
          <p:cNvSpPr/>
          <p:nvPr/>
        </p:nvSpPr>
        <p:spPr>
          <a:xfrm>
            <a:off x="11366389" y="433334"/>
            <a:ext cx="746607" cy="64633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rPr lang="fr-FR" noProof="0" dirty="0"/>
              <a:t>01 - Contexte &amp; Problématique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Segoe UI"/>
              </a:defRPr>
            </a:pPr>
            <a:r>
              <a:rPr lang="fr-FR" noProof="0" dirty="0"/>
              <a:t>Pourquoi ce projet ?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11F1DDC-2FBE-F19A-0972-7E9054D323F8}"/>
              </a:ext>
            </a:extLst>
          </p:cNvPr>
          <p:cNvSpPr/>
          <p:nvPr/>
        </p:nvSpPr>
        <p:spPr>
          <a:xfrm>
            <a:off x="11366389" y="433334"/>
            <a:ext cx="746607" cy="64633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rPr lang="fr-FR" noProof="0" dirty="0"/>
              <a:t>Contexte &amp; Problématique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32004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Rounded Rectangle 4"/>
          <p:cNvSpPr/>
          <p:nvPr/>
        </p:nvSpPr>
        <p:spPr>
          <a:xfrm>
            <a:off x="274320" y="2801765"/>
            <a:ext cx="5486400" cy="2286726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" name="Rectangle 5"/>
          <p:cNvSpPr/>
          <p:nvPr/>
        </p:nvSpPr>
        <p:spPr>
          <a:xfrm>
            <a:off x="365760" y="2104572"/>
            <a:ext cx="530352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548640" y="3055548"/>
            <a:ext cx="49377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4C3C"/>
                </a:solidFill>
                <a:latin typeface="Segoe UI"/>
              </a:defRPr>
            </a:pPr>
            <a:r>
              <a:rPr lang="fr-FR" noProof="0" dirty="0"/>
              <a:t>CONSTAT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3528776"/>
            <a:ext cx="554736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400" noProof="0" dirty="0">
                <a:solidFill>
                  <a:srgbClr val="E74C3C"/>
                </a:solidFill>
                <a:latin typeface="Segoe UI"/>
              </a:rPr>
              <a:t>▸ </a:t>
            </a:r>
            <a:r>
              <a:rPr lang="fr-FR" sz="1400" noProof="0" dirty="0">
                <a:solidFill>
                  <a:srgbClr val="CCCCCC"/>
                </a:solidFill>
                <a:latin typeface="Segoe UI"/>
              </a:rPr>
              <a:t>Gestion manuelle des </a:t>
            </a:r>
            <a:r>
              <a:rPr lang="fr-FR" sz="1400" noProof="0" dirty="0" err="1">
                <a:solidFill>
                  <a:srgbClr val="CCCCCC"/>
                </a:solidFill>
                <a:latin typeface="Segoe UI"/>
              </a:rPr>
              <a:t>reservations</a:t>
            </a:r>
            <a:r>
              <a:rPr lang="fr-FR" sz="1400" noProof="0" dirty="0">
                <a:solidFill>
                  <a:srgbClr val="CCCCCC"/>
                </a:solidFill>
                <a:latin typeface="Segoe UI"/>
              </a:rPr>
              <a:t> (papier, WhatsApp, </a:t>
            </a:r>
            <a:r>
              <a:rPr lang="fr-FR" sz="1400" noProof="0" dirty="0" err="1">
                <a:solidFill>
                  <a:srgbClr val="CCCCCC"/>
                </a:solidFill>
                <a:latin typeface="Segoe UI"/>
              </a:rPr>
              <a:t>telephone</a:t>
            </a:r>
            <a:r>
              <a:rPr lang="fr-FR" sz="1400" noProof="0" dirty="0">
                <a:solidFill>
                  <a:srgbClr val="CCCCCC"/>
                </a:solidFill>
                <a:latin typeface="Segoe UI"/>
              </a:rPr>
              <a:t>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400" noProof="0" dirty="0">
                <a:solidFill>
                  <a:srgbClr val="E74C3C"/>
                </a:solidFill>
                <a:latin typeface="Segoe UI"/>
              </a:rPr>
              <a:t>▸ </a:t>
            </a:r>
            <a:r>
              <a:rPr lang="fr-FR" sz="1400" noProof="0" dirty="0">
                <a:solidFill>
                  <a:srgbClr val="CCCCCC"/>
                </a:solidFill>
                <a:latin typeface="Segoe UI"/>
              </a:rPr>
              <a:t>Conflits </a:t>
            </a:r>
            <a:r>
              <a:rPr lang="fr-FR" sz="1400" noProof="0" dirty="0" err="1">
                <a:solidFill>
                  <a:srgbClr val="CCCCCC"/>
                </a:solidFill>
                <a:latin typeface="Segoe UI"/>
              </a:rPr>
              <a:t>frequents</a:t>
            </a:r>
            <a:r>
              <a:rPr lang="fr-FR" sz="1400" noProof="0" dirty="0">
                <a:solidFill>
                  <a:srgbClr val="CCCCCC"/>
                </a:solidFill>
                <a:latin typeface="Segoe UI"/>
              </a:rPr>
              <a:t> : doubles </a:t>
            </a:r>
            <a:r>
              <a:rPr lang="fr-FR" sz="1400" noProof="0" dirty="0" err="1">
                <a:solidFill>
                  <a:srgbClr val="CCCCCC"/>
                </a:solidFill>
                <a:latin typeface="Segoe UI"/>
              </a:rPr>
              <a:t>reservations</a:t>
            </a:r>
            <a:r>
              <a:rPr lang="fr-FR" sz="1400" noProof="0" dirty="0">
                <a:solidFill>
                  <a:srgbClr val="CCCCCC"/>
                </a:solidFill>
                <a:latin typeface="Segoe UI"/>
              </a:rPr>
              <a:t>, oublis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400" noProof="0" dirty="0">
                <a:solidFill>
                  <a:srgbClr val="E74C3C"/>
                </a:solidFill>
                <a:latin typeface="Segoe UI"/>
              </a:rPr>
              <a:t>▸ </a:t>
            </a:r>
            <a:r>
              <a:rPr lang="fr-FR" sz="1400" noProof="0" dirty="0">
                <a:solidFill>
                  <a:srgbClr val="CCCCCC"/>
                </a:solidFill>
                <a:latin typeface="Segoe UI"/>
              </a:rPr>
              <a:t>Aucune </a:t>
            </a:r>
            <a:r>
              <a:rPr lang="fr-FR" sz="1400" noProof="0" dirty="0" err="1">
                <a:solidFill>
                  <a:srgbClr val="CCCCCC"/>
                </a:solidFill>
                <a:latin typeface="Segoe UI"/>
              </a:rPr>
              <a:t>visibilite</a:t>
            </a:r>
            <a:r>
              <a:rPr lang="fr-FR" sz="1400" noProof="0" dirty="0">
                <a:solidFill>
                  <a:srgbClr val="CCCCCC"/>
                </a:solidFill>
                <a:latin typeface="Segoe UI"/>
              </a:rPr>
              <a:t> en temps </a:t>
            </a:r>
            <a:r>
              <a:rPr lang="fr-FR" sz="1400" noProof="0" dirty="0" err="1">
                <a:solidFill>
                  <a:srgbClr val="CCCCCC"/>
                </a:solidFill>
                <a:latin typeface="Segoe UI"/>
              </a:rPr>
              <a:t>reel</a:t>
            </a:r>
            <a:r>
              <a:rPr lang="fr-FR" sz="1400" noProof="0" dirty="0">
                <a:solidFill>
                  <a:srgbClr val="CCCCCC"/>
                </a:solidFill>
                <a:latin typeface="Segoe UI"/>
              </a:rPr>
              <a:t> sur les </a:t>
            </a:r>
            <a:r>
              <a:rPr lang="fr-FR" sz="1400" noProof="0" dirty="0" err="1">
                <a:solidFill>
                  <a:srgbClr val="CCCCCC"/>
                </a:solidFill>
                <a:latin typeface="Segoe UI"/>
              </a:rPr>
              <a:t>disponibilites</a:t>
            </a:r>
            <a:endParaRPr lang="fr-FR" sz="1400" noProof="0" dirty="0">
              <a:solidFill>
                <a:srgbClr val="CCCCCC"/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400" noProof="0" dirty="0">
                <a:solidFill>
                  <a:srgbClr val="E74C3C"/>
                </a:solidFill>
                <a:latin typeface="Segoe UI"/>
              </a:rPr>
              <a:t>▸ </a:t>
            </a:r>
            <a:r>
              <a:rPr lang="fr-FR" sz="1400" noProof="0" dirty="0">
                <a:solidFill>
                  <a:srgbClr val="CCCCCC"/>
                </a:solidFill>
                <a:latin typeface="Segoe UI"/>
              </a:rPr>
              <a:t>Perte de revenus : ressources </a:t>
            </a:r>
            <a:r>
              <a:rPr lang="fr-FR" sz="1400" noProof="0" dirty="0" err="1">
                <a:solidFill>
                  <a:srgbClr val="CCCCCC"/>
                </a:solidFill>
                <a:latin typeface="Segoe UI"/>
              </a:rPr>
              <a:t>sous-utilisees</a:t>
            </a:r>
            <a:endParaRPr lang="fr-FR" sz="1400" noProof="0" dirty="0">
              <a:solidFill>
                <a:srgbClr val="CCCCCC"/>
              </a:solidFill>
              <a:latin typeface="Segoe U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2880360"/>
            <a:ext cx="5303520" cy="2129536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0" name="Rectangle 9"/>
          <p:cNvSpPr/>
          <p:nvPr/>
        </p:nvSpPr>
        <p:spPr>
          <a:xfrm>
            <a:off x="6217920" y="2104572"/>
            <a:ext cx="53035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6431280" y="3080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  <a:latin typeface="Segoe UI"/>
              </a:defRPr>
            </a:pPr>
            <a:r>
              <a:rPr lang="fr-FR" noProof="0" dirty="0"/>
              <a:t>NOTRE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661019"/>
            <a:ext cx="493776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4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400" noProof="0" dirty="0">
                <a:solidFill>
                  <a:srgbClr val="CCCCCC"/>
                </a:solidFill>
                <a:latin typeface="Segoe UI"/>
              </a:rPr>
              <a:t>Plateforme </a:t>
            </a:r>
            <a:r>
              <a:rPr lang="fr-FR" sz="1400" noProof="0" dirty="0" err="1">
                <a:solidFill>
                  <a:srgbClr val="CCCCCC"/>
                </a:solidFill>
                <a:latin typeface="Segoe UI"/>
              </a:rPr>
              <a:t>unifiee</a:t>
            </a:r>
            <a:r>
              <a:rPr lang="fr-FR" sz="1400" noProof="0" dirty="0">
                <a:solidFill>
                  <a:srgbClr val="CCCCCC"/>
                </a:solidFill>
                <a:latin typeface="Segoe UI"/>
              </a:rPr>
              <a:t> de </a:t>
            </a:r>
            <a:r>
              <a:rPr lang="fr-FR" sz="1400" noProof="0" dirty="0" err="1">
                <a:solidFill>
                  <a:srgbClr val="CCCCCC"/>
                </a:solidFill>
                <a:latin typeface="Segoe UI"/>
              </a:rPr>
              <a:t>reservation</a:t>
            </a:r>
            <a:r>
              <a:rPr lang="fr-FR" sz="1400" noProof="0" dirty="0">
                <a:solidFill>
                  <a:srgbClr val="CCCCCC"/>
                </a:solidFill>
                <a:latin typeface="Segoe UI"/>
              </a:rPr>
              <a:t> multi-services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4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400" noProof="0" dirty="0" err="1">
                <a:solidFill>
                  <a:srgbClr val="CCCCCC"/>
                </a:solidFill>
                <a:latin typeface="Segoe UI"/>
              </a:rPr>
              <a:t>Disponibilite</a:t>
            </a:r>
            <a:r>
              <a:rPr lang="fr-FR" sz="1400" noProof="0" dirty="0">
                <a:solidFill>
                  <a:srgbClr val="CCCCCC"/>
                </a:solidFill>
                <a:latin typeface="Segoe UI"/>
              </a:rPr>
              <a:t> en temps </a:t>
            </a:r>
            <a:r>
              <a:rPr lang="fr-FR" sz="1400" noProof="0" dirty="0" err="1">
                <a:solidFill>
                  <a:srgbClr val="CCCCCC"/>
                </a:solidFill>
                <a:latin typeface="Segoe UI"/>
              </a:rPr>
              <a:t>reel</a:t>
            </a:r>
            <a:r>
              <a:rPr lang="fr-FR" sz="1400" noProof="0" dirty="0">
                <a:solidFill>
                  <a:srgbClr val="CCCCCC"/>
                </a:solidFill>
                <a:latin typeface="Segoe UI"/>
              </a:rPr>
              <a:t> (</a:t>
            </a:r>
            <a:r>
              <a:rPr lang="fr-FR" sz="1400" noProof="0" dirty="0" err="1">
                <a:solidFill>
                  <a:srgbClr val="CCCCCC"/>
                </a:solidFill>
                <a:latin typeface="Segoe UI"/>
              </a:rPr>
              <a:t>WebSocket</a:t>
            </a:r>
            <a:r>
              <a:rPr lang="fr-FR" sz="1400" noProof="0" dirty="0">
                <a:solidFill>
                  <a:srgbClr val="CCCCCC"/>
                </a:solidFill>
                <a:latin typeface="Segoe UI"/>
              </a:rPr>
              <a:t>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4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400" noProof="0" dirty="0">
                <a:solidFill>
                  <a:srgbClr val="CCCCCC"/>
                </a:solidFill>
                <a:latin typeface="Segoe UI"/>
              </a:rPr>
              <a:t>Allocation intelligente des ressources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4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400" noProof="0" dirty="0">
                <a:solidFill>
                  <a:srgbClr val="CCCCCC"/>
                </a:solidFill>
                <a:latin typeface="Segoe UI"/>
              </a:rPr>
              <a:t>Notifications automatiques (confirmation, rappels)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C86E701-2C8D-07EE-EE00-521CCD23C266}"/>
              </a:ext>
            </a:extLst>
          </p:cNvPr>
          <p:cNvSpPr/>
          <p:nvPr/>
        </p:nvSpPr>
        <p:spPr>
          <a:xfrm>
            <a:off x="11366389" y="433334"/>
            <a:ext cx="746607" cy="64633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rPr lang="fr-FR" noProof="0" dirty="0"/>
              <a:t>02 - Objectifs du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Segoe UI"/>
              </a:defRPr>
            </a:pPr>
            <a:r>
              <a:rPr lang="fr-FR" noProof="0" dirty="0"/>
              <a:t>Ce que nous voulons atteindre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ED2BF86-19F2-55FF-A995-87D37EEFE731}"/>
              </a:ext>
            </a:extLst>
          </p:cNvPr>
          <p:cNvSpPr/>
          <p:nvPr/>
        </p:nvSpPr>
        <p:spPr>
          <a:xfrm>
            <a:off x="11366389" y="433334"/>
            <a:ext cx="746607" cy="64633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rPr lang="fr-FR" noProof="0" dirty="0"/>
              <a:t>Objectifs du projet</a:t>
            </a:r>
          </a:p>
        </p:txBody>
      </p:sp>
      <p:sp>
        <p:nvSpPr>
          <p:cNvPr id="4" name="Rectangle 3"/>
          <p:cNvSpPr/>
          <p:nvPr/>
        </p:nvSpPr>
        <p:spPr>
          <a:xfrm>
            <a:off x="1402080" y="947783"/>
            <a:ext cx="27432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94960" cy="17373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" name="Rectangle 5"/>
          <p:cNvSpPr/>
          <p:nvPr/>
        </p:nvSpPr>
        <p:spPr>
          <a:xfrm>
            <a:off x="457200" y="1209693"/>
            <a:ext cx="539496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029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C7"/>
                </a:solidFill>
                <a:latin typeface="Segoe UI"/>
              </a:defRPr>
            </a:pPr>
            <a:r>
              <a:rPr lang="fr-FR" noProof="0" dirty="0"/>
              <a:t>Pour les Commerçants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50292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Gérer tables, chambres, bus, évènements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Eviter les conflits de réservation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Maximiser le taux d'occupation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Dashboard de suivi des revenus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1"/>
            <a:ext cx="5394960" cy="17373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0" name="Rectangle 9"/>
          <p:cNvSpPr/>
          <p:nvPr/>
        </p:nvSpPr>
        <p:spPr>
          <a:xfrm>
            <a:off x="6217920" y="1212669"/>
            <a:ext cx="539496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  <a:latin typeface="Segoe UI"/>
              </a:defRPr>
            </a:pPr>
            <a:r>
              <a:rPr lang="fr-FR" noProof="0" dirty="0"/>
              <a:t>Pour les Clients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1280" y="1799707"/>
            <a:ext cx="50292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Réserver en ligne facilement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Voir les disponibilités en temps réel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Suggestions de créneaux alternatifs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Payer via Mobile Money ou carte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69664"/>
            <a:ext cx="5394960" cy="1920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4" name="Rectangle 13"/>
          <p:cNvSpPr/>
          <p:nvPr/>
        </p:nvSpPr>
        <p:spPr>
          <a:xfrm>
            <a:off x="457200" y="3977640"/>
            <a:ext cx="5394960" cy="54864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731520" y="4251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77F00"/>
                </a:solidFill>
                <a:latin typeface="Segoe UI"/>
              </a:defRPr>
            </a:pPr>
            <a:r>
              <a:rPr lang="fr-FR" noProof="0" dirty="0"/>
              <a:t>Pour la Plateforme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17720"/>
            <a:ext cx="50292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77F00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Modèle économique par commission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77F00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Multi-services : restaurant, hôtel, transport...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77F00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Scalable et containerise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77F00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Documentation API complète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114800"/>
            <a:ext cx="5394960" cy="1975104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AF7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8" name="Rectangle 17"/>
          <p:cNvSpPr/>
          <p:nvPr/>
        </p:nvSpPr>
        <p:spPr>
          <a:xfrm>
            <a:off x="6217920" y="3977640"/>
            <a:ext cx="5394960" cy="54864"/>
          </a:xfrm>
          <a:prstGeom prst="rect">
            <a:avLst/>
          </a:prstGeom>
          <a:solidFill>
            <a:srgbClr val="AF7A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6431280" y="423548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F7AC5"/>
                </a:solidFill>
                <a:latin typeface="Segoe UI"/>
              </a:defRPr>
            </a:pPr>
            <a:r>
              <a:rPr lang="fr-FR" noProof="0" dirty="0"/>
              <a:t>Contexte Africain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642394"/>
            <a:ext cx="50292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AF7AC5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Mobile Money comme moyen principal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AF7AC5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Support paiement en espèces sur place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AF7AC5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Devises FCFA (XOF, XAF), USD, EUR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AF7AC5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Evènements familiaux (mariage, baptême)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DFB9FDB-5C40-C1DB-C488-C8A0F04C20BD}"/>
              </a:ext>
            </a:extLst>
          </p:cNvPr>
          <p:cNvSpPr/>
          <p:nvPr/>
        </p:nvSpPr>
        <p:spPr>
          <a:xfrm>
            <a:off x="11366389" y="433334"/>
            <a:ext cx="746607" cy="64633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rPr lang="fr-FR" noProof="0" dirty="0"/>
              <a:t>03 - Architecture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Segoe UI"/>
              </a:defRPr>
            </a:pPr>
            <a:r>
              <a:rPr lang="fr-FR" noProof="0" dirty="0" err="1"/>
              <a:t>Microservices</a:t>
            </a:r>
            <a:r>
              <a:rPr lang="fr-FR" noProof="0" dirty="0"/>
              <a:t> avec API Gateway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AAB340B-C6B2-92DE-46E3-494DC3D97F09}"/>
              </a:ext>
            </a:extLst>
          </p:cNvPr>
          <p:cNvSpPr/>
          <p:nvPr/>
        </p:nvSpPr>
        <p:spPr>
          <a:xfrm>
            <a:off x="11366389" y="433334"/>
            <a:ext cx="746607" cy="64633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rPr lang="fr-FR" noProof="0" dirty="0"/>
              <a:t>Architecture Technique - Vue d'ensemble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45720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Rounded Rectangle 4"/>
          <p:cNvSpPr/>
          <p:nvPr/>
        </p:nvSpPr>
        <p:spPr>
          <a:xfrm>
            <a:off x="4754880" y="1280160"/>
            <a:ext cx="2560320" cy="6400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77F00"/>
                </a:solidFill>
                <a:latin typeface="Segoe UI"/>
              </a:defRPr>
            </a:pPr>
            <a:r>
              <a:rPr lang="fr-FR" noProof="0" dirty="0"/>
              <a:t>Client (Mobile Flutter)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920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96C7"/>
                </a:solidFill>
                <a:latin typeface="Segoe UI"/>
              </a:defRPr>
            </a:pPr>
            <a:r>
              <a:rPr lang="fr-FR" noProof="0" dirty="0"/>
              <a:t>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2286000"/>
            <a:ext cx="4754880" cy="731520"/>
          </a:xfrm>
          <a:prstGeom prst="roundRect">
            <a:avLst/>
          </a:prstGeom>
          <a:solidFill>
            <a:srgbClr val="003D5B"/>
          </a:solidFill>
          <a:ln w="254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lang="fr-FR" noProof="0" dirty="0"/>
              <a:t>API Gateway (Port 3000) - Routage, </a:t>
            </a:r>
            <a:r>
              <a:rPr lang="fr-FR" noProof="0" dirty="0" err="1"/>
              <a:t>Auth</a:t>
            </a:r>
            <a:r>
              <a:rPr lang="fr-FR" noProof="0" dirty="0"/>
              <a:t>, Rate </a:t>
            </a:r>
            <a:r>
              <a:rPr lang="fr-FR" noProof="0" dirty="0" err="1"/>
              <a:t>Limiting</a:t>
            </a:r>
            <a:endParaRPr lang="fr-FR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5577840" y="3017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96C7"/>
                </a:solidFill>
                <a:latin typeface="Segoe UI"/>
              </a:defRPr>
            </a:pPr>
            <a:r>
              <a:rPr lang="fr-FR" noProof="0" dirty="0"/>
              <a:t>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2377440" cy="8229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96C7"/>
                </a:solidFill>
                <a:latin typeface="Segoe UI"/>
              </a:defRPr>
            </a:pPr>
            <a:r>
              <a:rPr lang="fr-FR" noProof="0" dirty="0" err="1"/>
              <a:t>Auth</a:t>
            </a:r>
            <a:br>
              <a:rPr lang="fr-FR" noProof="0" dirty="0"/>
            </a:br>
            <a:r>
              <a:rPr lang="fr-FR" noProof="0" dirty="0"/>
              <a:t>3001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3474720"/>
            <a:ext cx="2377440" cy="8229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ECC71"/>
                </a:solidFill>
                <a:latin typeface="Segoe UI"/>
              </a:defRPr>
            </a:pPr>
            <a:r>
              <a:rPr lang="fr-FR" noProof="0" dirty="0" err="1"/>
              <a:t>Booking</a:t>
            </a:r>
            <a:br>
              <a:rPr lang="fr-FR" noProof="0" dirty="0"/>
            </a:br>
            <a:r>
              <a:rPr lang="fr-FR" noProof="0" dirty="0"/>
              <a:t>3003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474720"/>
            <a:ext cx="2377440" cy="8229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77F00"/>
                </a:solidFill>
                <a:latin typeface="Segoe UI"/>
              </a:defRPr>
            </a:pPr>
            <a:r>
              <a:rPr lang="fr-FR" noProof="0" dirty="0" err="1"/>
              <a:t>Payment</a:t>
            </a:r>
            <a:br>
              <a:rPr lang="fr-FR" noProof="0" dirty="0"/>
            </a:br>
            <a:r>
              <a:rPr lang="fr-FR" noProof="0" dirty="0"/>
              <a:t>3004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3474720"/>
            <a:ext cx="2377440" cy="8229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39C12"/>
                </a:solidFill>
                <a:latin typeface="Segoe UI"/>
              </a:defRPr>
            </a:pPr>
            <a:r>
              <a:rPr lang="fr-FR" noProof="0" dirty="0"/>
              <a:t>Notification</a:t>
            </a:r>
            <a:br>
              <a:rPr lang="fr-FR" noProof="0" dirty="0"/>
            </a:br>
            <a:r>
              <a:rPr lang="fr-FR" noProof="0" dirty="0"/>
              <a:t>3005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80560"/>
            <a:ext cx="2377440" cy="8229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AF7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AF7AC5"/>
                </a:solidFill>
                <a:latin typeface="Segoe UI"/>
              </a:defRPr>
            </a:pPr>
            <a:r>
              <a:rPr lang="fr-FR" noProof="0" dirty="0"/>
              <a:t>Restaurant</a:t>
            </a:r>
            <a:br>
              <a:rPr lang="fr-FR" noProof="0" dirty="0"/>
            </a:br>
            <a:r>
              <a:rPr lang="fr-FR" noProof="0" dirty="0"/>
              <a:t>3008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4480560"/>
            <a:ext cx="2377440" cy="8229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ABC9C"/>
                </a:solidFill>
                <a:latin typeface="Segoe UI"/>
              </a:defRPr>
            </a:pPr>
            <a:r>
              <a:rPr lang="fr-FR" noProof="0" dirty="0"/>
              <a:t>Accommodation</a:t>
            </a:r>
            <a:br>
              <a:rPr lang="fr-FR" noProof="0" dirty="0"/>
            </a:br>
            <a:r>
              <a:rPr lang="fr-FR" noProof="0" dirty="0"/>
              <a:t>3009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480560"/>
            <a:ext cx="2377440" cy="8229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E96D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E96D71"/>
                </a:solidFill>
                <a:latin typeface="Segoe UI"/>
              </a:defRPr>
            </a:pPr>
            <a:r>
              <a:rPr lang="fr-FR" noProof="0" dirty="0"/>
              <a:t>Transport</a:t>
            </a:r>
            <a:br>
              <a:rPr lang="fr-FR" noProof="0" dirty="0"/>
            </a:br>
            <a:r>
              <a:rPr lang="fr-FR" noProof="0" dirty="0"/>
              <a:t>3011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4480560"/>
            <a:ext cx="2377440" cy="8229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95A5A6"/>
                </a:solidFill>
                <a:latin typeface="Segoe UI"/>
              </a:defRPr>
            </a:pPr>
            <a:r>
              <a:rPr lang="fr-FR" noProof="0" dirty="0"/>
              <a:t>Service Provider</a:t>
            </a:r>
            <a:br>
              <a:rPr lang="fr-FR" noProof="0" dirty="0"/>
            </a:br>
            <a:r>
              <a:rPr lang="fr-FR" noProof="0" dirty="0"/>
              <a:t>3010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5486400"/>
            <a:ext cx="3840480" cy="6400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CCCCCC"/>
                </a:solidFill>
                <a:latin typeface="Segoe UI"/>
              </a:defRPr>
            </a:pPr>
            <a:r>
              <a:rPr lang="fr-FR" noProof="0" dirty="0"/>
              <a:t>Resource </a:t>
            </a:r>
            <a:r>
              <a:rPr lang="fr-FR" noProof="0" dirty="0" err="1"/>
              <a:t>Core</a:t>
            </a:r>
            <a:r>
              <a:rPr lang="fr-FR" noProof="0" dirty="0"/>
              <a:t> (3002) - Ressources </a:t>
            </a:r>
            <a:r>
              <a:rPr lang="fr-FR" noProof="0" dirty="0" err="1"/>
              <a:t>partagees</a:t>
            </a:r>
            <a:endParaRPr lang="fr-FR" noProof="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A89E3EF-CC3C-E4C9-52F8-CA72127CD6FE}"/>
              </a:ext>
            </a:extLst>
          </p:cNvPr>
          <p:cNvSpPr/>
          <p:nvPr/>
        </p:nvSpPr>
        <p:spPr>
          <a:xfrm>
            <a:off x="11366389" y="433334"/>
            <a:ext cx="746607" cy="64633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rPr lang="fr-FR" noProof="0" dirty="0"/>
              <a:t>Patterns de Communication &amp; </a:t>
            </a:r>
            <a:r>
              <a:rPr lang="fr-FR" noProof="0" dirty="0" err="1"/>
              <a:t>Sécurite</a:t>
            </a:r>
            <a:endParaRPr lang="fr-FR" noProof="0" dirty="0"/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45720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3474720" cy="1823883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" name="Rectangle 5"/>
          <p:cNvSpPr/>
          <p:nvPr/>
        </p:nvSpPr>
        <p:spPr>
          <a:xfrm>
            <a:off x="457200" y="1460926"/>
            <a:ext cx="347472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C7"/>
                </a:solidFill>
                <a:latin typeface="Segoe UI"/>
              </a:defRPr>
            </a:pPr>
            <a:r>
              <a:rPr lang="fr-FR" noProof="0" dirty="0"/>
              <a:t>Communication Sync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108960" cy="851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HTTP/REST via API Gateway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Swagger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/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OpenAPI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pour doc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Zod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pour validation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schemas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297680" y="1691640"/>
            <a:ext cx="3474720" cy="1823883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0" name="Rectangle 9"/>
          <p:cNvSpPr/>
          <p:nvPr/>
        </p:nvSpPr>
        <p:spPr>
          <a:xfrm>
            <a:off x="4297680" y="1460926"/>
            <a:ext cx="34747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448056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  <a:latin typeface="Segoe UI"/>
              </a:defRPr>
            </a:pPr>
            <a:r>
              <a:rPr lang="fr-FR" noProof="0" dirty="0"/>
              <a:t>Communication </a:t>
            </a:r>
            <a:r>
              <a:rPr lang="fr-FR" noProof="0" dirty="0" err="1"/>
              <a:t>Async</a:t>
            </a:r>
            <a:endParaRPr lang="fr-FR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4480560" y="2194560"/>
            <a:ext cx="3108960" cy="851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Redis Pub/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Sub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pour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evenements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Queue pour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webhooks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paiement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Traitement asynchrone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91640"/>
            <a:ext cx="3474720" cy="1823883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4" name="Rectangle 13"/>
          <p:cNvSpPr/>
          <p:nvPr/>
        </p:nvSpPr>
        <p:spPr>
          <a:xfrm>
            <a:off x="8138160" y="1460926"/>
            <a:ext cx="3474720" cy="54864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832104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77F00"/>
                </a:solidFill>
                <a:latin typeface="Segoe UI"/>
              </a:defRPr>
            </a:pPr>
            <a:r>
              <a:rPr lang="fr-FR" noProof="0" dirty="0"/>
              <a:t>Communication Real-time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194560"/>
            <a:ext cx="3108960" cy="851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77F00"/>
                </a:solidFill>
                <a:latin typeface="Segoe UI"/>
              </a:rPr>
              <a:t>▸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WebSocket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/ Socket.io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77F00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Notifications push temps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reel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77F00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Mise a jour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disponibilites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live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389120"/>
            <a:ext cx="5303520" cy="20116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8" name="Rectangle 17"/>
          <p:cNvSpPr/>
          <p:nvPr/>
        </p:nvSpPr>
        <p:spPr>
          <a:xfrm>
            <a:off x="457200" y="4123944"/>
            <a:ext cx="530352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640080" y="4526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4C3C"/>
                </a:solidFill>
                <a:latin typeface="Segoe UI"/>
              </a:defRPr>
            </a:pPr>
            <a:r>
              <a:rPr lang="fr-FR" noProof="0" dirty="0" err="1"/>
              <a:t>Securite</a:t>
            </a:r>
            <a:endParaRPr lang="fr-FR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640080" y="4892040"/>
            <a:ext cx="493776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E74C3C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JWT avec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refresh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tokens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E74C3C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Rate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limiting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(100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req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/min par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defaut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E74C3C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CORS configure | Helmet.js pour headers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E74C3C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Authentification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centralisee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via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Auth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Service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389120"/>
            <a:ext cx="5303520" cy="20116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AF7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2" name="Rectangle 21"/>
          <p:cNvSpPr/>
          <p:nvPr/>
        </p:nvSpPr>
        <p:spPr>
          <a:xfrm>
            <a:off x="6309360" y="4123944"/>
            <a:ext cx="5303520" cy="54864"/>
          </a:xfrm>
          <a:prstGeom prst="rect">
            <a:avLst/>
          </a:prstGeom>
          <a:solidFill>
            <a:srgbClr val="AF7A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6492240" y="4526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F7AC5"/>
                </a:solidFill>
                <a:latin typeface="Segoe UI"/>
              </a:defRPr>
            </a:pPr>
            <a:r>
              <a:rPr lang="fr-FR" noProof="0" dirty="0" err="1"/>
              <a:t>Scalabilite</a:t>
            </a:r>
            <a:endParaRPr lang="fr-FR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6492240" y="4892040"/>
            <a:ext cx="493776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AF7AC5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Chaque service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containerisable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(Docker)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AF7AC5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Orchestration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Kubernetes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prevue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AF7AC5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Cache Redis pour performance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AF7AC5"/>
                </a:solidFill>
                <a:latin typeface="Segoe UI"/>
              </a:rPr>
              <a:t>▸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Load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balancing au niveau Gateway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5D5A814-F883-0872-BF73-69E94F0ABC1E}"/>
              </a:ext>
            </a:extLst>
          </p:cNvPr>
          <p:cNvSpPr/>
          <p:nvPr/>
        </p:nvSpPr>
        <p:spPr>
          <a:xfrm>
            <a:off x="11366389" y="433334"/>
            <a:ext cx="746607" cy="64633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rPr lang="fr-FR" noProof="0" dirty="0"/>
              <a:t>04 - Les </a:t>
            </a:r>
            <a:r>
              <a:rPr lang="fr-FR" noProof="0" dirty="0" err="1"/>
              <a:t>Microservices</a:t>
            </a:r>
            <a:endParaRPr lang="fr-F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Segoe UI"/>
              </a:defRPr>
            </a:pPr>
            <a:r>
              <a:rPr lang="fr-FR" noProof="0" dirty="0"/>
              <a:t>9 services </a:t>
            </a:r>
            <a:r>
              <a:rPr lang="fr-FR" noProof="0" dirty="0" err="1"/>
              <a:t>specialises</a:t>
            </a:r>
            <a:r>
              <a:rPr lang="fr-FR" noProof="0" dirty="0"/>
              <a:t> + 1 Gateway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D2DF07E-E72A-09CB-81AB-0113370A013B}"/>
              </a:ext>
            </a:extLst>
          </p:cNvPr>
          <p:cNvSpPr/>
          <p:nvPr/>
        </p:nvSpPr>
        <p:spPr>
          <a:xfrm>
            <a:off x="11366389" y="433334"/>
            <a:ext cx="746607" cy="64633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337E39-28CD-B5EB-E682-7A884799C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0DCB19-4BE7-FC06-5CDE-498683248B0D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E6DBFD-B202-33C5-8957-B2D1C3E35080}"/>
              </a:ext>
            </a:extLst>
          </p:cNvPr>
          <p:cNvSpPr txBox="1"/>
          <p:nvPr/>
        </p:nvSpPr>
        <p:spPr>
          <a:xfrm>
            <a:off x="731519" y="365760"/>
            <a:ext cx="10522857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rPr lang="fr-FR" noProof="0" dirty="0"/>
              <a:t>Services </a:t>
            </a:r>
            <a:r>
              <a:rPr lang="fr-FR" noProof="0" dirty="0" err="1"/>
              <a:t>Core</a:t>
            </a:r>
            <a:r>
              <a:rPr lang="fr-FR" noProof="0" dirty="0"/>
              <a:t> - Authentification &amp; Ressource </a:t>
            </a:r>
            <a:r>
              <a:rPr lang="fr-FR" noProof="0" dirty="0" err="1"/>
              <a:t>Core</a:t>
            </a:r>
            <a:endParaRPr lang="fr-FR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EEB7F2-713F-B998-791A-0FBA3580A979}"/>
              </a:ext>
            </a:extLst>
          </p:cNvPr>
          <p:cNvSpPr/>
          <p:nvPr/>
        </p:nvSpPr>
        <p:spPr>
          <a:xfrm>
            <a:off x="731520" y="960120"/>
            <a:ext cx="45720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D113455-158B-B63E-47C7-B36D955C1B27}"/>
              </a:ext>
            </a:extLst>
          </p:cNvPr>
          <p:cNvSpPr/>
          <p:nvPr/>
        </p:nvSpPr>
        <p:spPr>
          <a:xfrm>
            <a:off x="619760" y="2397472"/>
            <a:ext cx="4169954" cy="24688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8288C-7910-851B-4210-9AC7D9C568EF}"/>
              </a:ext>
            </a:extLst>
          </p:cNvPr>
          <p:cNvSpPr/>
          <p:nvPr/>
        </p:nvSpPr>
        <p:spPr>
          <a:xfrm>
            <a:off x="731520" y="2022568"/>
            <a:ext cx="347472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676348-B7CA-EF07-8C53-4B5C8B43642B}"/>
              </a:ext>
            </a:extLst>
          </p:cNvPr>
          <p:cNvSpPr txBox="1"/>
          <p:nvPr/>
        </p:nvSpPr>
        <p:spPr>
          <a:xfrm>
            <a:off x="985520" y="262607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C7"/>
                </a:solidFill>
                <a:latin typeface="Segoe UI"/>
              </a:defRPr>
            </a:pPr>
            <a:r>
              <a:rPr lang="fr-FR" noProof="0" dirty="0" err="1"/>
              <a:t>Auth</a:t>
            </a:r>
            <a:r>
              <a:rPr lang="fr-FR" noProof="0" dirty="0"/>
              <a:t> Service (3001)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E2E469-C70A-EDB5-033B-E51EB8399A75}"/>
              </a:ext>
            </a:extLst>
          </p:cNvPr>
          <p:cNvSpPr txBox="1"/>
          <p:nvPr/>
        </p:nvSpPr>
        <p:spPr>
          <a:xfrm>
            <a:off x="1097280" y="3082546"/>
            <a:ext cx="3108960" cy="142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Inscription / Connexion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JWT +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Refresh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tokens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OAuth2 (Google, Facebook)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Gestion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roles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(client/marchand)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OTP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verification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FCF5E4D-7734-662E-85F9-4050F4588564}"/>
              </a:ext>
            </a:extLst>
          </p:cNvPr>
          <p:cNvSpPr/>
          <p:nvPr/>
        </p:nvSpPr>
        <p:spPr>
          <a:xfrm>
            <a:off x="7139578" y="2406616"/>
            <a:ext cx="3833222" cy="24688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AB1160-7420-B101-A832-372402EEF023}"/>
              </a:ext>
            </a:extLst>
          </p:cNvPr>
          <p:cNvSpPr/>
          <p:nvPr/>
        </p:nvSpPr>
        <p:spPr>
          <a:xfrm>
            <a:off x="7233924" y="2022568"/>
            <a:ext cx="347472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C0ACEA-7333-D0A6-5465-AAD0F24C2031}"/>
              </a:ext>
            </a:extLst>
          </p:cNvPr>
          <p:cNvSpPr txBox="1"/>
          <p:nvPr/>
        </p:nvSpPr>
        <p:spPr>
          <a:xfrm>
            <a:off x="7322459" y="2687175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CCCCC"/>
                </a:solidFill>
                <a:latin typeface="Segoe UI"/>
              </a:defRPr>
            </a:pPr>
            <a:r>
              <a:rPr lang="fr-FR" noProof="0" dirty="0"/>
              <a:t>Resource </a:t>
            </a:r>
            <a:r>
              <a:rPr lang="fr-FR" noProof="0" dirty="0" err="1"/>
              <a:t>Core</a:t>
            </a:r>
            <a:r>
              <a:rPr lang="fr-FR" noProof="0" dirty="0"/>
              <a:t> (3002)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C68014-DC9D-A983-710D-9DAD345D8C09}"/>
              </a:ext>
            </a:extLst>
          </p:cNvPr>
          <p:cNvSpPr txBox="1"/>
          <p:nvPr/>
        </p:nvSpPr>
        <p:spPr>
          <a:xfrm>
            <a:off x="7501709" y="3147496"/>
            <a:ext cx="310896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▸ Gestion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centralisee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des ressources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▸ </a:t>
            </a:r>
            <a:r>
              <a:rPr lang="fr-FR" sz="1200" dirty="0">
                <a:solidFill>
                  <a:srgbClr val="95A5A6"/>
                </a:solidFill>
                <a:latin typeface="Segoe UI"/>
              </a:rPr>
              <a:t> </a:t>
            </a:r>
            <a:r>
              <a:rPr lang="fr-FR" sz="1200" dirty="0">
                <a:solidFill>
                  <a:srgbClr val="CCCCCC"/>
                </a:solidFill>
                <a:latin typeface="Segoe UI"/>
              </a:rPr>
              <a:t>Profils marchands </a:t>
            </a:r>
            <a:r>
              <a:rPr lang="fr-FR" sz="1200" dirty="0" err="1">
                <a:solidFill>
                  <a:srgbClr val="CCCCCC"/>
                </a:solidFill>
                <a:latin typeface="Segoe UI"/>
              </a:rPr>
              <a:t>detailles</a:t>
            </a:r>
            <a:endParaRPr lang="fr-FR" sz="1200" dirty="0">
              <a:solidFill>
                <a:srgbClr val="CCCCCC"/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▸ API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partagee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inter-services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▸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Controle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de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coherence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C2B5C77-79AE-D0F8-961B-C75FF44B261A}"/>
              </a:ext>
            </a:extLst>
          </p:cNvPr>
          <p:cNvSpPr/>
          <p:nvPr/>
        </p:nvSpPr>
        <p:spPr>
          <a:xfrm>
            <a:off x="11366389" y="433334"/>
            <a:ext cx="746607" cy="64633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05656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rPr lang="fr-FR" noProof="0" dirty="0"/>
              <a:t>Services Métier – Restauration &amp; Hébergement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32004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2498635"/>
            <a:ext cx="5303520" cy="2940014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AF7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" name="Rectangle 5"/>
          <p:cNvSpPr/>
          <p:nvPr/>
        </p:nvSpPr>
        <p:spPr>
          <a:xfrm>
            <a:off x="457200" y="1895856"/>
            <a:ext cx="5303520" cy="54864"/>
          </a:xfrm>
          <a:prstGeom prst="rect">
            <a:avLst/>
          </a:prstGeom>
          <a:solidFill>
            <a:srgbClr val="AF7A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640080" y="2635795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F7AC5"/>
                </a:solidFill>
                <a:latin typeface="Segoe UI"/>
              </a:defRPr>
            </a:pPr>
            <a:r>
              <a:rPr lang="fr-FR" noProof="0" dirty="0"/>
              <a:t>Restaurant Service (Port 3008)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01555"/>
            <a:ext cx="4937760" cy="2287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AF7AC5"/>
                </a:solidFill>
                <a:latin typeface="Segoe UI"/>
              </a:rPr>
              <a:t>▸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Creation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profil restaurant (nom, type cuisine, capacite)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AF7AC5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Gestion des tables par zone (Terrasse, VIP,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Interieur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...)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AF7AC5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Configuration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periodes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de service (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dejeuner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, diner...)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AF7AC5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Recherche de table disponible pour date/heure/nb personnes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AF7AC5"/>
                </a:solidFill>
                <a:latin typeface="Segoe UI"/>
              </a:rPr>
              <a:t>▸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Verification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disponibilite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(API interne anti-conflit)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AF7AC5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Privatisation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complete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pour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evenements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AF7AC5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Suggestions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creneaux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alternatifs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AF7AC5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Plan de salle interactif en temps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reel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09360" y="2416339"/>
            <a:ext cx="5303520" cy="302231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0" name="Rectangle 9"/>
          <p:cNvSpPr/>
          <p:nvPr/>
        </p:nvSpPr>
        <p:spPr>
          <a:xfrm>
            <a:off x="6309360" y="1868424"/>
            <a:ext cx="5303520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6614160" y="259921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BC9C"/>
                </a:solidFill>
                <a:latin typeface="Segoe UI"/>
              </a:defRPr>
            </a:pPr>
            <a:r>
              <a:rPr lang="fr-FR" noProof="0" dirty="0"/>
              <a:t>Accommodation Service (Port 3009)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001555"/>
            <a:ext cx="4937760" cy="2287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1ABC9C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Gestion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proprietes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et chambres par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categorie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1ABC9C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Calendrier de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disponibilite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1ABC9C"/>
                </a:solidFill>
                <a:latin typeface="Segoe UI"/>
              </a:rPr>
              <a:t>▸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Reservation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et gestion des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sejours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1ABC9C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Gestion des avis clients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1ABC9C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Tarification dynamique par saison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1ABC9C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Check-in / Check-out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1ABC9C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Photos et descriptions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detaillees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1ABC9C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Filtres : prix,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equipements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, localisation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0959FE3-EFBE-CDF4-2749-0CDEF03382D2}"/>
              </a:ext>
            </a:extLst>
          </p:cNvPr>
          <p:cNvSpPr/>
          <p:nvPr/>
        </p:nvSpPr>
        <p:spPr>
          <a:xfrm>
            <a:off x="11366389" y="433334"/>
            <a:ext cx="746607" cy="64633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rPr lang="fr-FR" noProof="0" dirty="0"/>
              <a:t>Services Métier - Transport &amp; Prestations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45720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2324897"/>
            <a:ext cx="5303520" cy="180136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E96D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" name="Rectangle 5"/>
          <p:cNvSpPr/>
          <p:nvPr/>
        </p:nvSpPr>
        <p:spPr>
          <a:xfrm>
            <a:off x="457200" y="1931617"/>
            <a:ext cx="5303520" cy="54864"/>
          </a:xfrm>
          <a:prstGeom prst="rect">
            <a:avLst/>
          </a:prstGeom>
          <a:solidFill>
            <a:srgbClr val="E96D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640080" y="240472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96D71"/>
                </a:solidFill>
                <a:latin typeface="Segoe UI"/>
              </a:defRPr>
            </a:pPr>
            <a:r>
              <a:rPr lang="fr-FR" noProof="0" dirty="0"/>
              <a:t>Transport Service (Port 3011) - LE PLUS AVANCE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70486"/>
            <a:ext cx="493776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E96D71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Gestion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vehicules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et conducteurs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E96D71"/>
                </a:solidFill>
                <a:latin typeface="Segoe UI"/>
              </a:rPr>
              <a:t>▸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Definition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lignes et trajets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E96D71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Gestion des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sieges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par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vehicule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E96D71"/>
                </a:solidFill>
                <a:latin typeface="Segoe UI"/>
              </a:rPr>
              <a:t>▸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Reservation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de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sieges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en temps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reel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15166" y="2358714"/>
            <a:ext cx="5303520" cy="1767551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0" name="Rectangle 9"/>
          <p:cNvSpPr/>
          <p:nvPr/>
        </p:nvSpPr>
        <p:spPr>
          <a:xfrm>
            <a:off x="6431280" y="1931617"/>
            <a:ext cx="5303520" cy="54864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6498046" y="2495874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5A5A6"/>
                </a:solidFill>
                <a:latin typeface="Segoe UI"/>
              </a:defRPr>
            </a:pPr>
            <a:r>
              <a:rPr lang="fr-FR" noProof="0" dirty="0"/>
              <a:t>Service Provider (Port 3010)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046" y="2861634"/>
            <a:ext cx="4937760" cy="564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95A5A6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Inscription et gestion des prestataires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dirty="0">
                <a:solidFill>
                  <a:srgbClr val="CCCCCC"/>
                </a:solidFill>
                <a:latin typeface="Segoe UI"/>
              </a:rPr>
              <a:t>▸ Allocation multi-ressources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FCD218E-D525-1C5C-4927-7C954E3299FA}"/>
              </a:ext>
            </a:extLst>
          </p:cNvPr>
          <p:cNvSpPr/>
          <p:nvPr/>
        </p:nvSpPr>
        <p:spPr>
          <a:xfrm>
            <a:off x="11366389" y="433334"/>
            <a:ext cx="746607" cy="64633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egoe UI"/>
              </a:defRPr>
            </a:pPr>
            <a:r>
              <a:rPr lang="fr-FR" noProof="0" dirty="0"/>
              <a:t>Services </a:t>
            </a:r>
            <a:r>
              <a:rPr lang="fr-FR" dirty="0"/>
              <a:t>Métier</a:t>
            </a:r>
            <a:r>
              <a:rPr lang="fr-FR" noProof="0" dirty="0"/>
              <a:t> - Paiement &amp; Notification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45720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Rounded Rectangle 4"/>
          <p:cNvSpPr/>
          <p:nvPr/>
        </p:nvSpPr>
        <p:spPr>
          <a:xfrm>
            <a:off x="519612" y="2540943"/>
            <a:ext cx="4332514" cy="24688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" name="Rectangle 5"/>
          <p:cNvSpPr/>
          <p:nvPr/>
        </p:nvSpPr>
        <p:spPr>
          <a:xfrm>
            <a:off x="640080" y="2172897"/>
            <a:ext cx="3474720" cy="54864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702492" y="2789065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77F00"/>
                </a:solidFill>
                <a:latin typeface="Segoe UI"/>
              </a:defRPr>
            </a:pPr>
            <a:r>
              <a:rPr lang="fr-FR" noProof="0" dirty="0" err="1"/>
              <a:t>Payment</a:t>
            </a:r>
            <a:r>
              <a:rPr lang="fr-FR" noProof="0" dirty="0"/>
              <a:t> Service (3004)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932" y="3249603"/>
            <a:ext cx="3108960" cy="142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77F00"/>
                </a:solidFill>
                <a:latin typeface="Segoe UI"/>
              </a:rPr>
              <a:t>▸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Stripe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(carte bancaire, 3D Secure)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77F00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Mobile Money (Orange, MTN,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Wave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...)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77F00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Paiement sur place (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especes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77F00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Remboursements &amp; factures PDF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77F00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Commissions plateforme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85280" y="2540943"/>
            <a:ext cx="4528457" cy="24688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8" name="Rectangle 17"/>
          <p:cNvSpPr/>
          <p:nvPr/>
        </p:nvSpPr>
        <p:spPr>
          <a:xfrm>
            <a:off x="6685280" y="2145465"/>
            <a:ext cx="3474720" cy="54864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7373257" y="2815263"/>
            <a:ext cx="3108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  <a:latin typeface="Segoe UI"/>
              </a:defRPr>
            </a:pPr>
            <a:r>
              <a:rPr lang="fr-FR" noProof="0" dirty="0">
                <a:solidFill>
                  <a:srgbClr val="00B050"/>
                </a:solidFill>
              </a:rPr>
              <a:t>Notification Service (3005)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95028" y="3249602"/>
            <a:ext cx="3108960" cy="142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B050"/>
                </a:solidFill>
                <a:latin typeface="Segoe UI"/>
              </a:rPr>
              <a:t>▸</a:t>
            </a:r>
            <a:r>
              <a:rPr lang="fr-FR" sz="1200" noProof="0" dirty="0">
                <a:solidFill>
                  <a:srgbClr val="F39C12"/>
                </a:solidFill>
                <a:latin typeface="Segoe UI"/>
              </a:rPr>
              <a:t>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Emails transactionnels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B050"/>
                </a:solidFill>
                <a:latin typeface="Segoe UI"/>
              </a:rPr>
              <a:t>▸</a:t>
            </a:r>
            <a:r>
              <a:rPr lang="fr-FR" sz="1200" noProof="0" dirty="0">
                <a:solidFill>
                  <a:srgbClr val="F39C12"/>
                </a:solidFill>
                <a:latin typeface="Segoe UI"/>
              </a:rPr>
              <a:t>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SMS (confirmation, rappels)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B050"/>
                </a:solidFill>
                <a:latin typeface="Segoe UI"/>
              </a:rPr>
              <a:t>▸</a:t>
            </a:r>
            <a:r>
              <a:rPr lang="fr-FR" sz="1200" noProof="0" dirty="0">
                <a:solidFill>
                  <a:srgbClr val="F39C12"/>
                </a:solidFill>
                <a:latin typeface="Segoe UI"/>
              </a:rPr>
              <a:t>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Push notifications mobiles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B050"/>
                </a:solidFill>
                <a:latin typeface="Segoe UI"/>
              </a:rPr>
              <a:t>▸</a:t>
            </a:r>
            <a:r>
              <a:rPr lang="fr-FR" sz="1200" noProof="0" dirty="0">
                <a:solidFill>
                  <a:srgbClr val="F39C12"/>
                </a:solidFill>
                <a:latin typeface="Segoe UI"/>
              </a:rPr>
              <a:t>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Templates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personnalisables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B050"/>
                </a:solidFill>
                <a:latin typeface="Segoe UI"/>
              </a:rPr>
              <a:t>▸</a:t>
            </a:r>
            <a:r>
              <a:rPr lang="fr-FR" sz="1200" noProof="0" dirty="0">
                <a:solidFill>
                  <a:srgbClr val="F39C12"/>
                </a:solidFill>
                <a:latin typeface="Segoe UI"/>
              </a:rPr>
              <a:t>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Envoi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evenementiel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(Pub/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Sub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)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61CC1DD-9C42-A276-1F92-DB8D6B589CA0}"/>
              </a:ext>
            </a:extLst>
          </p:cNvPr>
          <p:cNvSpPr/>
          <p:nvPr/>
        </p:nvSpPr>
        <p:spPr>
          <a:xfrm>
            <a:off x="11366389" y="433334"/>
            <a:ext cx="746607" cy="64633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B2A37C-DCCD-0699-D356-1F0E39106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5AE18C2-17AA-CA04-E27E-29E2390425E2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A10AC6-A8D0-F7CF-594F-844C4E154A1A}"/>
              </a:ext>
            </a:extLst>
          </p:cNvPr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egoe UI"/>
              </a:defRPr>
            </a:pPr>
            <a:r>
              <a:rPr lang="fr-FR" noProof="0" dirty="0"/>
              <a:t>Services </a:t>
            </a:r>
            <a:r>
              <a:rPr lang="fr-FR" dirty="0"/>
              <a:t>Métier</a:t>
            </a:r>
            <a:r>
              <a:rPr lang="fr-FR" noProof="0" dirty="0"/>
              <a:t> - </a:t>
            </a:r>
            <a:r>
              <a:rPr lang="fr-FR" dirty="0"/>
              <a:t>Réservation</a:t>
            </a:r>
            <a:endParaRPr lang="fr-FR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48F57E-BCF4-0D6D-8161-6A5184EABDEA}"/>
              </a:ext>
            </a:extLst>
          </p:cNvPr>
          <p:cNvSpPr/>
          <p:nvPr/>
        </p:nvSpPr>
        <p:spPr>
          <a:xfrm>
            <a:off x="731520" y="960120"/>
            <a:ext cx="45720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5EEA304-2897-7565-F85F-E7AFF80F3358}"/>
              </a:ext>
            </a:extLst>
          </p:cNvPr>
          <p:cNvSpPr/>
          <p:nvPr/>
        </p:nvSpPr>
        <p:spPr>
          <a:xfrm>
            <a:off x="4297679" y="2626359"/>
            <a:ext cx="3786777" cy="2729837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3A081B-7446-CFE5-4C65-CB6EDFCDEB0B}"/>
              </a:ext>
            </a:extLst>
          </p:cNvPr>
          <p:cNvSpPr/>
          <p:nvPr/>
        </p:nvSpPr>
        <p:spPr>
          <a:xfrm>
            <a:off x="4297680" y="2333752"/>
            <a:ext cx="34747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EAE5FA-A286-7942-81A3-B31207DB5E26}"/>
              </a:ext>
            </a:extLst>
          </p:cNvPr>
          <p:cNvSpPr txBox="1"/>
          <p:nvPr/>
        </p:nvSpPr>
        <p:spPr>
          <a:xfrm>
            <a:off x="4541367" y="2790952"/>
            <a:ext cx="3108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CC71"/>
                </a:solidFill>
                <a:latin typeface="Segoe UI"/>
              </a:defRPr>
            </a:pPr>
            <a:r>
              <a:rPr lang="fr-FR" dirty="0" err="1"/>
              <a:t>Booking</a:t>
            </a:r>
            <a:r>
              <a:rPr lang="fr-FR" dirty="0"/>
              <a:t> Service (3003)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4C167B-6377-77F5-103B-AC4A3A0E29D6}"/>
              </a:ext>
            </a:extLst>
          </p:cNvPr>
          <p:cNvSpPr txBox="1"/>
          <p:nvPr/>
        </p:nvSpPr>
        <p:spPr>
          <a:xfrm>
            <a:off x="4480560" y="3266440"/>
            <a:ext cx="3429726" cy="1733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6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600" noProof="0" dirty="0">
                <a:solidFill>
                  <a:srgbClr val="CCCCCC"/>
                </a:solidFill>
                <a:latin typeface="Segoe UI"/>
              </a:rPr>
              <a:t>Orchestration des réservations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6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600" noProof="0" dirty="0">
                <a:solidFill>
                  <a:srgbClr val="CCCCCC"/>
                </a:solidFill>
                <a:latin typeface="Segoe UI"/>
              </a:rPr>
              <a:t>Coordination entre services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6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600" noProof="0" dirty="0">
                <a:solidFill>
                  <a:srgbClr val="CCCCCC"/>
                </a:solidFill>
                <a:latin typeface="Segoe UI"/>
              </a:rPr>
              <a:t>Vérification disponibilité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6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600" noProof="0" dirty="0">
                <a:solidFill>
                  <a:srgbClr val="CCCCCC"/>
                </a:solidFill>
                <a:latin typeface="Segoe UI"/>
              </a:rPr>
              <a:t>Gestion statuts réservation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6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600" noProof="0" dirty="0">
                <a:solidFill>
                  <a:srgbClr val="CCCCCC"/>
                </a:solidFill>
                <a:latin typeface="Segoe UI"/>
              </a:rPr>
              <a:t>Historique et annulations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632E5BF-52B8-9EA4-8649-287D1FEC3BF2}"/>
              </a:ext>
            </a:extLst>
          </p:cNvPr>
          <p:cNvSpPr/>
          <p:nvPr/>
        </p:nvSpPr>
        <p:spPr>
          <a:xfrm>
            <a:off x="11366389" y="433334"/>
            <a:ext cx="746607" cy="64633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5885217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rPr lang="fr-FR" noProof="0" dirty="0"/>
              <a:t>05 - Stack Technique &amp; Outils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Segoe UI"/>
              </a:defRPr>
            </a:pPr>
            <a:r>
              <a:rPr lang="fr-FR" noProof="0" dirty="0"/>
              <a:t>Technologies choisies et justifications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274026B-1738-972B-27E8-4B9A5629C19C}"/>
              </a:ext>
            </a:extLst>
          </p:cNvPr>
          <p:cNvSpPr/>
          <p:nvPr/>
        </p:nvSpPr>
        <p:spPr>
          <a:xfrm>
            <a:off x="11366389" y="433334"/>
            <a:ext cx="746607" cy="64633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rPr lang="fr-FR" noProof="0" dirty="0"/>
              <a:t>Stack Technique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03376"/>
            <a:ext cx="22860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1600200"/>
            <a:ext cx="3474720" cy="2313432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" name="Rectangle 5"/>
          <p:cNvSpPr/>
          <p:nvPr/>
        </p:nvSpPr>
        <p:spPr>
          <a:xfrm>
            <a:off x="457200" y="1423416"/>
            <a:ext cx="347472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C7"/>
                </a:solidFill>
                <a:latin typeface="Segoe UI"/>
              </a:defRPr>
            </a:pPr>
            <a:r>
              <a:rPr lang="fr-FR" noProof="0" dirty="0"/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108960" cy="1713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TypeScript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(typage fort)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Fastify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(performance &gt; Express)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Prisma ORM (PostgreSQL)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Redis (cache, sessions, Pub/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Sub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Socket.io (temps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reel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Zod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(validation schémas</a:t>
            </a:r>
            <a:r>
              <a:rPr lang="fr-FR" sz="1200" dirty="0">
                <a:solidFill>
                  <a:srgbClr val="CCCCCC"/>
                </a:solidFill>
                <a:latin typeface="Segoe UI"/>
              </a:rPr>
              <a:t>)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297680" y="1600200"/>
            <a:ext cx="3474720" cy="2313432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0" name="Rectangle 9"/>
          <p:cNvSpPr/>
          <p:nvPr/>
        </p:nvSpPr>
        <p:spPr>
          <a:xfrm>
            <a:off x="4297680" y="1423416"/>
            <a:ext cx="34747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4480560" y="1737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  <a:latin typeface="Segoe UI"/>
              </a:defRPr>
            </a:pPr>
            <a:r>
              <a:rPr lang="fr-FR" noProof="0" dirty="0"/>
              <a:t>Frontend Mobile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103120"/>
            <a:ext cx="310896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Flutter (Dart) - cross-platform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Dio (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requetes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HTTP)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Riverpod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(gestion d'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etat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Maquettes SVG </a:t>
            </a:r>
            <a:r>
              <a:rPr lang="fr-FR" sz="1200" dirty="0">
                <a:solidFill>
                  <a:srgbClr val="CCCCCC"/>
                </a:solidFill>
                <a:latin typeface="Segoe UI"/>
              </a:rPr>
              <a:t>Viewer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138160" y="1600200"/>
            <a:ext cx="3474720" cy="2313432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4" name="Rectangle 13"/>
          <p:cNvSpPr/>
          <p:nvPr/>
        </p:nvSpPr>
        <p:spPr>
          <a:xfrm>
            <a:off x="8138160" y="1423416"/>
            <a:ext cx="3474720" cy="54864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8321040" y="1737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77F00"/>
                </a:solidFill>
                <a:latin typeface="Segoe UI"/>
              </a:defRPr>
            </a:pPr>
            <a:r>
              <a:rPr lang="fr-FR" noProof="0" dirty="0"/>
              <a:t>Infrastructure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103120"/>
            <a:ext cx="3108960" cy="1713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77F00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Docker &amp; Docker Compose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77F00"/>
                </a:solidFill>
                <a:latin typeface="Segoe UI"/>
              </a:rPr>
              <a:t>▸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Kubernetes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(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prevu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77F00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PostgreSQL (1 DB par service)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77F00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Redis (1 cache par service)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77F00"/>
                </a:solidFill>
                <a:latin typeface="Segoe UI"/>
              </a:rPr>
              <a:t>▸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Swagger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/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OpenAPI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(docs API)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77F00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CI/CD (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prevu</a:t>
            </a:r>
            <a:r>
              <a:rPr lang="fr-FR" sz="1200" dirty="0">
                <a:solidFill>
                  <a:srgbClr val="CCCCCC"/>
                </a:solidFill>
                <a:latin typeface="Segoe UI"/>
              </a:rPr>
              <a:t>)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57200" y="4434840"/>
            <a:ext cx="530352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AF7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8" name="Rectangle 17"/>
          <p:cNvSpPr/>
          <p:nvPr/>
        </p:nvSpPr>
        <p:spPr>
          <a:xfrm>
            <a:off x="457200" y="4283964"/>
            <a:ext cx="5303520" cy="54864"/>
          </a:xfrm>
          <a:prstGeom prst="rect">
            <a:avLst/>
          </a:prstGeom>
          <a:solidFill>
            <a:srgbClr val="AF7A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640080" y="45720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F7AC5"/>
                </a:solidFill>
                <a:latin typeface="Segoe UI"/>
              </a:defRPr>
            </a:pPr>
            <a:r>
              <a:rPr lang="fr-FR" noProof="0" dirty="0"/>
              <a:t>Outils de </a:t>
            </a:r>
            <a:r>
              <a:rPr lang="fr-FR" noProof="0" dirty="0" err="1"/>
              <a:t>Developpement</a:t>
            </a:r>
            <a:endParaRPr lang="fr-FR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640080" y="4937760"/>
            <a:ext cx="4937760" cy="1713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AF7AC5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Git 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AF7AC5"/>
                </a:solidFill>
                <a:latin typeface="Segoe UI"/>
              </a:rPr>
              <a:t>▸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ESLint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pour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qualite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du code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AF7AC5"/>
                </a:solidFill>
                <a:latin typeface="Segoe UI"/>
              </a:rPr>
              <a:t>▸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Jest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pour les tests unitaires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AF7AC5"/>
                </a:solidFill>
                <a:latin typeface="Segoe UI"/>
              </a:rPr>
              <a:t>▸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PlantUML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pour diagrammes (cas d'utilisation, classes,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sequence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AF7AC5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Pino pour le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logging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structure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dirty="0">
                <a:solidFill>
                  <a:srgbClr val="AF7AC5"/>
                </a:solidFill>
                <a:latin typeface="Segoe UI"/>
              </a:rPr>
              <a:t>▸ </a:t>
            </a:r>
            <a:r>
              <a:rPr lang="fr-FR" sz="1200" dirty="0">
                <a:solidFill>
                  <a:schemeClr val="bg1"/>
                </a:solidFill>
                <a:latin typeface="Segoe UI"/>
              </a:rPr>
              <a:t>Pour les diagramme technique</a:t>
            </a:r>
            <a:endParaRPr lang="fr-FR" sz="1200" noProof="0" dirty="0">
              <a:solidFill>
                <a:schemeClr val="bg1"/>
              </a:solidFill>
              <a:latin typeface="Segoe U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309360" y="4434840"/>
            <a:ext cx="530352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2" name="Rectangle 21"/>
          <p:cNvSpPr/>
          <p:nvPr/>
        </p:nvSpPr>
        <p:spPr>
          <a:xfrm>
            <a:off x="6309360" y="4283964"/>
            <a:ext cx="530352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6492240" y="45720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4C3C"/>
                </a:solidFill>
                <a:latin typeface="Segoe UI"/>
              </a:defRPr>
            </a:pPr>
            <a:r>
              <a:rPr lang="fr-FR" noProof="0" dirty="0" err="1"/>
              <a:t>Securite</a:t>
            </a:r>
            <a:r>
              <a:rPr lang="fr-FR" noProof="0" dirty="0"/>
              <a:t> &amp; </a:t>
            </a:r>
            <a:r>
              <a:rPr lang="fr-FR" noProof="0" dirty="0" err="1"/>
              <a:t>Auth</a:t>
            </a:r>
            <a:endParaRPr lang="fr-FR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6492240" y="49377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E74C3C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JWT +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Refresh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Tokens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E74C3C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OAuth2 (Google, Facebook)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E74C3C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Helmet.js (headers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securises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E74C3C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Rate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Limiting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configurable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E74C3C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PCI-DSS compliance (via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Stripe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)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2E8113E-9CB8-9174-74A9-C200AD94BA46}"/>
              </a:ext>
            </a:extLst>
          </p:cNvPr>
          <p:cNvSpPr/>
          <p:nvPr/>
        </p:nvSpPr>
        <p:spPr>
          <a:xfrm>
            <a:off x="11366389" y="433334"/>
            <a:ext cx="746607" cy="64633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rPr lang="fr-FR" noProof="0" dirty="0"/>
              <a:t>06 - Maquettes &amp; 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Segoe UI"/>
              </a:defRPr>
            </a:pPr>
            <a:r>
              <a:rPr lang="fr-FR" dirty="0"/>
              <a:t>38</a:t>
            </a:r>
            <a:r>
              <a:rPr lang="fr-FR" noProof="0" dirty="0"/>
              <a:t> </a:t>
            </a:r>
            <a:r>
              <a:rPr lang="fr-FR" dirty="0"/>
              <a:t>é</a:t>
            </a:r>
            <a:r>
              <a:rPr lang="fr-FR" noProof="0" dirty="0"/>
              <a:t>crans conçus pour 3 parcours utilisateur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2A6FE54-B602-49D9-BAD0-8C8B7BAA83CF}"/>
              </a:ext>
            </a:extLst>
          </p:cNvPr>
          <p:cNvSpPr/>
          <p:nvPr/>
        </p:nvSpPr>
        <p:spPr>
          <a:xfrm>
            <a:off x="11366389" y="433334"/>
            <a:ext cx="746607" cy="64633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rPr lang="fr-FR" noProof="0" dirty="0"/>
              <a:t>Maquettes &amp; Parcours Utilisateur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41148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2063496"/>
            <a:ext cx="3474720" cy="3255264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" name="Rectangle 5"/>
          <p:cNvSpPr/>
          <p:nvPr/>
        </p:nvSpPr>
        <p:spPr>
          <a:xfrm>
            <a:off x="457200" y="1787188"/>
            <a:ext cx="347472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640080" y="2200656"/>
            <a:ext cx="3108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C7"/>
                </a:solidFill>
                <a:latin typeface="Segoe UI"/>
              </a:defRPr>
            </a:pPr>
            <a:r>
              <a:rPr lang="fr-FR" noProof="0" dirty="0"/>
              <a:t>Parcours Authentification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01696"/>
            <a:ext cx="3108960" cy="2287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01 -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Splash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Screen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02 -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Onboarding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03 - Login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04 -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Register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05 - OTP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Verification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06 -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Forgot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Password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07 - Reset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Password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08 - Inscription Marchand (4 étapes</a:t>
            </a:r>
            <a:r>
              <a:rPr lang="fr-FR" sz="1200" dirty="0">
                <a:solidFill>
                  <a:srgbClr val="CCCCCC"/>
                </a:solidFill>
                <a:latin typeface="Segoe UI"/>
              </a:rPr>
              <a:t>)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297680" y="2063496"/>
            <a:ext cx="3474720" cy="3255264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0" name="Rectangle 9"/>
          <p:cNvSpPr/>
          <p:nvPr/>
        </p:nvSpPr>
        <p:spPr>
          <a:xfrm>
            <a:off x="4297680" y="1787188"/>
            <a:ext cx="34747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4480560" y="2200656"/>
            <a:ext cx="3108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  <a:latin typeface="Segoe UI"/>
              </a:defRPr>
            </a:pPr>
            <a:r>
              <a:rPr lang="fr-FR" noProof="0" dirty="0"/>
              <a:t>Parcours Client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566416"/>
            <a:ext cx="3108960" cy="2575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01 - Page d'accueil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02 - Recherche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etablissement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03 -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Detail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etablissement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04 - Formulaire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reservation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05 - Confirmation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reservation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06 - Paiement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07 - Mes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reservations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08 - Notifications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09 - Profil utilisateur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063496"/>
            <a:ext cx="3474720" cy="3255264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4" name="Rectangle 13"/>
          <p:cNvSpPr/>
          <p:nvPr/>
        </p:nvSpPr>
        <p:spPr>
          <a:xfrm>
            <a:off x="8138160" y="1787188"/>
            <a:ext cx="3474720" cy="54864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8321040" y="220065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77F00"/>
                </a:solidFill>
                <a:latin typeface="Segoe UI"/>
              </a:defRPr>
            </a:pPr>
            <a:r>
              <a:rPr lang="fr-FR" noProof="0" dirty="0"/>
              <a:t>Parcours Marchand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566416"/>
            <a:ext cx="3108960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77F00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Dashboard principal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77F00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Gestion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etablissement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77F00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Gestion des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reservations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77F00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Suivi des paiements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77F00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Statistiques d'occupation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77F00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Configuration services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77F00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Notifications marchands</a:t>
            </a:r>
            <a:endParaRPr lang="fr-FR" sz="1200" noProof="0" dirty="0">
              <a:solidFill>
                <a:srgbClr val="F77F00"/>
              </a:solidFill>
              <a:latin typeface="Segoe UI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1FED648-B124-C894-1709-CF1387A797CA}"/>
              </a:ext>
            </a:extLst>
          </p:cNvPr>
          <p:cNvSpPr/>
          <p:nvPr/>
        </p:nvSpPr>
        <p:spPr>
          <a:xfrm>
            <a:off x="11366389" y="433334"/>
            <a:ext cx="746607" cy="64633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rPr lang="fr-FR" noProof="0" dirty="0"/>
              <a:t>07 - Organisation &amp; Méthodologie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Segoe UI"/>
              </a:defRPr>
            </a:pPr>
            <a:r>
              <a:rPr lang="fr-FR" noProof="0" dirty="0"/>
              <a:t>Workflow d’</a:t>
            </a:r>
            <a:r>
              <a:rPr lang="fr-FR" dirty="0"/>
              <a:t>é</a:t>
            </a:r>
            <a:r>
              <a:rPr lang="fr-FR" noProof="0" dirty="0" err="1"/>
              <a:t>quipe</a:t>
            </a:r>
            <a:r>
              <a:rPr lang="fr-FR" noProof="0" dirty="0"/>
              <a:t> et bonnes pratiques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3F0E7ED-2789-531D-B1CC-ECBF897A3457}"/>
              </a:ext>
            </a:extLst>
          </p:cNvPr>
          <p:cNvSpPr/>
          <p:nvPr/>
        </p:nvSpPr>
        <p:spPr>
          <a:xfrm>
            <a:off x="11366389" y="433334"/>
            <a:ext cx="746607" cy="64633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rPr lang="fr-FR" noProof="0" dirty="0"/>
              <a:t>Organisation &amp; Méthodologie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36576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5303520" cy="1661537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" name="Rectangle 5"/>
          <p:cNvSpPr/>
          <p:nvPr/>
        </p:nvSpPr>
        <p:spPr>
          <a:xfrm>
            <a:off x="457200" y="1490472"/>
            <a:ext cx="530352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640080" y="18745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C7"/>
                </a:solidFill>
                <a:latin typeface="Segoe UI"/>
              </a:defRPr>
            </a:pPr>
            <a:r>
              <a:rPr lang="fr-FR" noProof="0" dirty="0"/>
              <a:t>Workflow Git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493776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Commits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conventionnels : &lt;type&gt;(&lt;scope&gt;): &lt;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desc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&gt;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Branches :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feature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/, fix/,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hotfix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/, docs/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Pull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Requests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obligatoires + code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review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Protection branche master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303520" cy="17830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0" name="Rectangle 9"/>
          <p:cNvSpPr/>
          <p:nvPr/>
        </p:nvSpPr>
        <p:spPr>
          <a:xfrm>
            <a:off x="6309360" y="1490472"/>
            <a:ext cx="53035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  <a:latin typeface="Segoe UI"/>
              </a:defRPr>
            </a:pPr>
            <a:r>
              <a:rPr lang="fr-FR" noProof="0" dirty="0"/>
              <a:t>Documentation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40280"/>
            <a:ext cx="493776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User Stories par persona (Client, Marchand, System, Admin)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Diagrammes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PlantUML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(cas d'utilisation, classes,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sequence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Architecture technique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documentee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Guide de contribution (CONTRIBUTING.md)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620389"/>
            <a:ext cx="5303520" cy="1743455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4" name="Rectangle 13"/>
          <p:cNvSpPr/>
          <p:nvPr/>
        </p:nvSpPr>
        <p:spPr>
          <a:xfrm>
            <a:off x="457200" y="4410078"/>
            <a:ext cx="5303520" cy="54864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640080" y="475755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77F00"/>
                </a:solidFill>
                <a:latin typeface="Segoe UI"/>
              </a:defRPr>
            </a:pPr>
            <a:r>
              <a:rPr lang="fr-FR" noProof="0" dirty="0"/>
              <a:t>Gestion de projet Agile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23310"/>
            <a:ext cx="4937760" cy="564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77F00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User Stories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priorisees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(Haute / Moyenne / Basse)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77F00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Estimation en story points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620390"/>
            <a:ext cx="5303520" cy="1743456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AF7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8" name="Rectangle 17"/>
          <p:cNvSpPr/>
          <p:nvPr/>
        </p:nvSpPr>
        <p:spPr>
          <a:xfrm>
            <a:off x="6309360" y="4410078"/>
            <a:ext cx="5303520" cy="54864"/>
          </a:xfrm>
          <a:prstGeom prst="rect">
            <a:avLst/>
          </a:prstGeom>
          <a:solidFill>
            <a:srgbClr val="AF7A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6492240" y="475755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F7AC5"/>
                </a:solidFill>
                <a:latin typeface="Segoe UI"/>
              </a:defRPr>
            </a:pPr>
            <a:r>
              <a:rPr lang="fr-FR" noProof="0" dirty="0" err="1"/>
              <a:t>Templates</a:t>
            </a:r>
            <a:r>
              <a:rPr lang="fr-FR" noProof="0" dirty="0"/>
              <a:t> &amp; Standards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123310"/>
            <a:ext cx="493776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AF7AC5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Template de PR (checklist, description, tests)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AF7AC5"/>
                </a:solidFill>
                <a:latin typeface="Segoe UI"/>
              </a:rPr>
              <a:t>▸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Templates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d'issues (bug report,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feature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request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AF7AC5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Git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hooks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recommandes (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pre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-commit)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AF7AC5"/>
                </a:solidFill>
                <a:latin typeface="Segoe UI"/>
              </a:rPr>
              <a:t>▸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ESLint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+ standards de code documentes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60F3654-15CA-0ACB-42CD-4D434D7F4EE6}"/>
              </a:ext>
            </a:extLst>
          </p:cNvPr>
          <p:cNvSpPr/>
          <p:nvPr/>
        </p:nvSpPr>
        <p:spPr>
          <a:xfrm>
            <a:off x="11366389" y="433334"/>
            <a:ext cx="746607" cy="64633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rPr lang="fr-FR" noProof="0" dirty="0"/>
              <a:t>Documentation UML - Diagrammes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36576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rPr lang="fr-FR" noProof="0" dirty="0"/>
              <a:t>Chaque </a:t>
            </a:r>
            <a:r>
              <a:rPr lang="fr-FR" noProof="0" dirty="0" err="1"/>
              <a:t>microservice</a:t>
            </a:r>
            <a:r>
              <a:rPr lang="fr-FR" noProof="0" dirty="0"/>
              <a:t> dispose de ses propres diagrammes </a:t>
            </a:r>
            <a:r>
              <a:rPr lang="fr-FR" noProof="0" dirty="0" err="1"/>
              <a:t>PlantUML</a:t>
            </a:r>
            <a:r>
              <a:rPr lang="fr-FR" noProof="0" dirty="0"/>
              <a:t> 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474720" cy="12801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347472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655320" y="207366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C7"/>
                </a:solidFill>
                <a:latin typeface="Segoe UI"/>
              </a:defRPr>
            </a:pPr>
            <a:r>
              <a:rPr lang="fr-FR" noProof="0" dirty="0" err="1"/>
              <a:t>Auth</a:t>
            </a:r>
            <a:r>
              <a:rPr lang="fr-FR" noProof="0" dirty="0"/>
              <a:t>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208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Cas d'utilisation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Diagramme de classes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Diagramme de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sequence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297680" y="2011680"/>
            <a:ext cx="3474720" cy="12801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1" name="Rectangle 10"/>
          <p:cNvSpPr/>
          <p:nvPr/>
        </p:nvSpPr>
        <p:spPr>
          <a:xfrm>
            <a:off x="4297680" y="1740358"/>
            <a:ext cx="347472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4480560" y="207366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C7"/>
                </a:solidFill>
                <a:latin typeface="Segoe UI"/>
              </a:defRPr>
            </a:pPr>
            <a:r>
              <a:rPr lang="fr-FR" noProof="0" dirty="0" err="1"/>
              <a:t>Booking</a:t>
            </a:r>
            <a:r>
              <a:rPr lang="fr-FR" noProof="0" dirty="0"/>
              <a:t> 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43942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Cas d'utilisation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Diagramme de classes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Diagramme de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sequence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138160" y="2011680"/>
            <a:ext cx="3474720" cy="12801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5" name="Rectangle 14"/>
          <p:cNvSpPr/>
          <p:nvPr/>
        </p:nvSpPr>
        <p:spPr>
          <a:xfrm>
            <a:off x="8138160" y="1740358"/>
            <a:ext cx="347472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8321040" y="207366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C7"/>
                </a:solidFill>
                <a:latin typeface="Segoe UI"/>
              </a:defRPr>
            </a:pPr>
            <a:r>
              <a:rPr lang="fr-FR" noProof="0" dirty="0"/>
              <a:t>Restaurant 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43942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Cas d'utilisation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Diagramme de classes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Diagramme de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sequence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57200" y="3671841"/>
            <a:ext cx="3474720" cy="12801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9" name="Rectangle 18"/>
          <p:cNvSpPr/>
          <p:nvPr/>
        </p:nvSpPr>
        <p:spPr>
          <a:xfrm>
            <a:off x="457200" y="3507249"/>
            <a:ext cx="347472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640080" y="3699273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C7"/>
                </a:solidFill>
                <a:latin typeface="Segoe UI"/>
              </a:defRPr>
            </a:pPr>
            <a:r>
              <a:rPr lang="fr-FR" noProof="0" dirty="0"/>
              <a:t>Accommodation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20" y="404879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Cas d'utilisation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Diagramme de classes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Diagramme de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sequence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297680" y="3671841"/>
            <a:ext cx="3474720" cy="12801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3" name="Rectangle 22"/>
          <p:cNvSpPr/>
          <p:nvPr/>
        </p:nvSpPr>
        <p:spPr>
          <a:xfrm>
            <a:off x="4297680" y="3507249"/>
            <a:ext cx="347472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4480560" y="3699273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C7"/>
                </a:solidFill>
                <a:latin typeface="Segoe UI"/>
              </a:defRPr>
            </a:pPr>
            <a:r>
              <a:rPr lang="fr-FR" noProof="0" dirty="0"/>
              <a:t>Transport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65033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Cas d'utilisation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Diagramme de classes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Diagramme de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sequence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138160" y="3671841"/>
            <a:ext cx="3474720" cy="12801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7" name="Rectangle 26"/>
          <p:cNvSpPr/>
          <p:nvPr/>
        </p:nvSpPr>
        <p:spPr>
          <a:xfrm>
            <a:off x="8138160" y="3507249"/>
            <a:ext cx="347472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8" name="TextBox 27"/>
          <p:cNvSpPr txBox="1"/>
          <p:nvPr/>
        </p:nvSpPr>
        <p:spPr>
          <a:xfrm>
            <a:off x="8321040" y="3699273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C7"/>
                </a:solidFill>
                <a:latin typeface="Segoe UI"/>
              </a:defRPr>
            </a:pPr>
            <a:r>
              <a:rPr lang="fr-FR" noProof="0" dirty="0" err="1"/>
              <a:t>Payment</a:t>
            </a:r>
            <a:r>
              <a:rPr lang="fr-FR" noProof="0" dirty="0"/>
              <a:t> 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04879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Cas d'utilisation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Diagramme de classes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Diagramme de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sequence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57200" y="5341145"/>
            <a:ext cx="3474720" cy="12801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1" name="Rectangle 30"/>
          <p:cNvSpPr/>
          <p:nvPr/>
        </p:nvSpPr>
        <p:spPr>
          <a:xfrm>
            <a:off x="457200" y="5176553"/>
            <a:ext cx="347472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2" name="TextBox 31"/>
          <p:cNvSpPr txBox="1"/>
          <p:nvPr/>
        </p:nvSpPr>
        <p:spPr>
          <a:xfrm>
            <a:off x="640080" y="536048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C7"/>
                </a:solidFill>
                <a:latin typeface="Segoe UI"/>
              </a:defRPr>
            </a:pPr>
            <a:r>
              <a:rPr lang="fr-FR" noProof="0" dirty="0"/>
              <a:t>Notification Service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711002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Cas d'utilisation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Diagramme de classes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Diagramme de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sequence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297680" y="5341145"/>
            <a:ext cx="3474720" cy="12801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5" name="Rectangle 34"/>
          <p:cNvSpPr/>
          <p:nvPr/>
        </p:nvSpPr>
        <p:spPr>
          <a:xfrm>
            <a:off x="4297680" y="5176553"/>
            <a:ext cx="347472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4480560" y="5368577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C7"/>
                </a:solidFill>
                <a:latin typeface="Segoe UI"/>
              </a:defRPr>
            </a:pPr>
            <a:r>
              <a:rPr lang="fr-FR" noProof="0" dirty="0"/>
              <a:t>Resource </a:t>
            </a:r>
            <a:r>
              <a:rPr lang="fr-FR" noProof="0" dirty="0" err="1"/>
              <a:t>Core</a:t>
            </a:r>
            <a:endParaRPr lang="fr-FR" noProof="0" dirty="0"/>
          </a:p>
        </p:txBody>
      </p:sp>
      <p:sp>
        <p:nvSpPr>
          <p:cNvPr id="37" name="TextBox 36"/>
          <p:cNvSpPr txBox="1"/>
          <p:nvPr/>
        </p:nvSpPr>
        <p:spPr>
          <a:xfrm>
            <a:off x="4480560" y="573843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Cas d'utilisation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Diagramme de classes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Diagramme de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sequence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8138160" y="5341145"/>
            <a:ext cx="3474720" cy="12801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9" name="Rectangle 38"/>
          <p:cNvSpPr/>
          <p:nvPr/>
        </p:nvSpPr>
        <p:spPr>
          <a:xfrm>
            <a:off x="8138160" y="5176553"/>
            <a:ext cx="347472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0" name="TextBox 39"/>
          <p:cNvSpPr txBox="1"/>
          <p:nvPr/>
        </p:nvSpPr>
        <p:spPr>
          <a:xfrm>
            <a:off x="8321040" y="5368577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C7"/>
                </a:solidFill>
                <a:latin typeface="Segoe UI"/>
              </a:defRPr>
            </a:pPr>
            <a:r>
              <a:rPr lang="fr-FR" noProof="0" dirty="0"/>
              <a:t>Service Provider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5726242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Cas d'utilisation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Diagramme de classes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Diagramme de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sequence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B9B811B-AEEF-323C-B745-8A93924292D2}"/>
              </a:ext>
            </a:extLst>
          </p:cNvPr>
          <p:cNvSpPr/>
          <p:nvPr/>
        </p:nvSpPr>
        <p:spPr>
          <a:xfrm>
            <a:off x="11366389" y="433334"/>
            <a:ext cx="746607" cy="64633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rPr lang="fr-FR" noProof="0" dirty="0"/>
              <a:t>08 - Etat d'avancement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Segoe UI"/>
              </a:defRPr>
            </a:pPr>
            <a:r>
              <a:rPr lang="fr-FR" noProof="0" dirty="0"/>
              <a:t>Ou en sommes-nous ?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4D422D1-768F-49B9-2D2B-4301594D38A0}"/>
              </a:ext>
            </a:extLst>
          </p:cNvPr>
          <p:cNvSpPr/>
          <p:nvPr/>
        </p:nvSpPr>
        <p:spPr>
          <a:xfrm>
            <a:off x="11366389" y="433334"/>
            <a:ext cx="746607" cy="64633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rPr lang="fr-FR" noProof="0" dirty="0"/>
              <a:t>Etat d'avancement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2527300"/>
            <a:ext cx="3474720" cy="3017012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" name="Rectangle 5"/>
          <p:cNvSpPr/>
          <p:nvPr/>
        </p:nvSpPr>
        <p:spPr>
          <a:xfrm>
            <a:off x="457200" y="2001608"/>
            <a:ext cx="34747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640080" y="26644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  <a:latin typeface="Segoe UI"/>
              </a:defRPr>
            </a:pPr>
            <a:r>
              <a:rPr lang="fr-FR" noProof="0" dirty="0"/>
              <a:t>TERMINE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0220"/>
            <a:ext cx="3108960" cy="2287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Architecture globale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definie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API Gateway configure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User Stories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documentees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(tous services)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Maquettes UI/UX (</a:t>
            </a:r>
            <a:r>
              <a:rPr lang="fr-FR" sz="1200" dirty="0">
                <a:solidFill>
                  <a:srgbClr val="CCCCCC"/>
                </a:solidFill>
                <a:latin typeface="Segoe UI"/>
              </a:rPr>
              <a:t>38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ecrans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SVG)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Transport Service IMPLEMENTE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Diagrammes UML (tous services)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Guide de contribution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Infrastructure Docker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527300"/>
            <a:ext cx="3474720" cy="3017012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0" name="Rectangle 9"/>
          <p:cNvSpPr/>
          <p:nvPr/>
        </p:nvSpPr>
        <p:spPr>
          <a:xfrm>
            <a:off x="4297680" y="2001608"/>
            <a:ext cx="347472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4480560" y="26644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  <a:latin typeface="Segoe UI"/>
              </a:defRPr>
            </a:pPr>
            <a:r>
              <a:rPr lang="fr-FR" noProof="0" dirty="0"/>
              <a:t>EN COURS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030220"/>
            <a:ext cx="3108960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39C12"/>
                </a:solidFill>
                <a:latin typeface="Segoe UI"/>
              </a:rPr>
              <a:t>▸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Auth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Service (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implementation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39C12"/>
                </a:solidFill>
                <a:latin typeface="Segoe UI"/>
              </a:rPr>
              <a:t>▸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Booking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Service (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implementation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39C12"/>
                </a:solidFill>
                <a:latin typeface="Segoe UI"/>
              </a:rPr>
              <a:t>▸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Payment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Service (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implementation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39C12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Restaurant Service (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implementation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39C12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Accommodation Service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39C12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Notification Service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39C12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Application mobile Flutter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527300"/>
            <a:ext cx="3474720" cy="3017012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4" name="Rectangle 13"/>
          <p:cNvSpPr/>
          <p:nvPr/>
        </p:nvSpPr>
        <p:spPr>
          <a:xfrm>
            <a:off x="8138160" y="2001608"/>
            <a:ext cx="347472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8321040" y="26644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4C3C"/>
                </a:solidFill>
                <a:latin typeface="Segoe UI"/>
              </a:defRPr>
            </a:pPr>
            <a:r>
              <a:rPr lang="fr-FR" noProof="0" dirty="0"/>
              <a:t>A VENIR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030220"/>
            <a:ext cx="3108960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E74C3C"/>
                </a:solidFill>
                <a:latin typeface="Segoe UI"/>
              </a:rPr>
              <a:t>▸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Deploiement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Kubernetes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E74C3C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Pipeline CI/CD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E74C3C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Tests unitaires complets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E74C3C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Tests d'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integration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E74C3C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Documentation API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Swagger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E74C3C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Beta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testing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E74C3C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Mise en production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D20E4A4-9190-E1D2-AF1D-9CED72C6637F}"/>
              </a:ext>
            </a:extLst>
          </p:cNvPr>
          <p:cNvSpPr/>
          <p:nvPr/>
        </p:nvSpPr>
        <p:spPr>
          <a:xfrm>
            <a:off x="11366389" y="433334"/>
            <a:ext cx="746607" cy="64633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rPr lang="fr-FR" noProof="0" dirty="0"/>
              <a:t>Chiffres </a:t>
            </a:r>
            <a:r>
              <a:rPr lang="fr-FR" noProof="0" dirty="0" err="1"/>
              <a:t>Cles</a:t>
            </a:r>
            <a:r>
              <a:rPr lang="fr-FR" noProof="0" dirty="0"/>
              <a:t> du Projet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260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96C7"/>
                </a:solidFill>
                <a:latin typeface="Segoe UI"/>
              </a:defRPr>
            </a:pPr>
            <a:r>
              <a:rPr lang="fr-FR" noProof="0" dirty="0"/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Segoe UI"/>
              </a:defRPr>
            </a:pPr>
            <a:r>
              <a:rPr lang="fr-FR" noProof="0" dirty="0" err="1"/>
              <a:t>Microservices</a:t>
            </a:r>
            <a:endParaRPr lang="fr-FR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29260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2ECC71"/>
                </a:solidFill>
                <a:latin typeface="Segoe UI"/>
              </a:defRPr>
            </a:pPr>
            <a:r>
              <a:rPr lang="fr-FR" dirty="0"/>
              <a:t>38</a:t>
            </a:r>
            <a:endParaRPr lang="fr-FR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4572000" y="27432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Segoe UI"/>
              </a:defRPr>
            </a:pPr>
            <a:r>
              <a:rPr lang="fr-FR" noProof="0" dirty="0"/>
              <a:t>Maquettes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77F00"/>
                </a:solidFill>
                <a:latin typeface="Segoe UI"/>
              </a:defRPr>
            </a:pPr>
            <a:r>
              <a:rPr lang="fr-FR" noProof="0" dirty="0"/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743200"/>
            <a:ext cx="2926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Segoe UI"/>
              </a:defRPr>
            </a:pPr>
            <a:r>
              <a:rPr lang="fr-FR" noProof="0" dirty="0"/>
              <a:t>User Stories</a:t>
            </a:r>
            <a:br>
              <a:rPr lang="fr-FR" noProof="0" dirty="0"/>
            </a:br>
            <a:r>
              <a:rPr lang="fr-FR" noProof="0" dirty="0" err="1"/>
              <a:t>Herbergement</a:t>
            </a:r>
            <a:endParaRPr lang="fr-FR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AF7AC5"/>
                </a:solidFill>
                <a:latin typeface="Segoe UI"/>
              </a:defRPr>
            </a:pPr>
            <a:r>
              <a:rPr lang="fr-FR" noProof="0" dirty="0"/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035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Segoe UI"/>
              </a:defRPr>
            </a:pPr>
            <a:r>
              <a:rPr lang="fr-FR" noProof="0" dirty="0"/>
              <a:t>User Stories</a:t>
            </a:r>
            <a:br>
              <a:rPr lang="fr-FR" noProof="0" dirty="0"/>
            </a:br>
            <a:r>
              <a:rPr lang="fr-FR" noProof="0" dirty="0"/>
              <a:t>Restaurant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206240"/>
            <a:ext cx="29260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39C12"/>
                </a:solidFill>
                <a:latin typeface="Segoe UI"/>
              </a:defRPr>
            </a:pPr>
            <a:r>
              <a:rPr lang="fr-FR" noProof="0" dirty="0"/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206240"/>
            <a:ext cx="29260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1ABC9C"/>
                </a:solidFill>
                <a:latin typeface="Segoe UI"/>
              </a:defRPr>
            </a:pPr>
            <a:r>
              <a:rPr lang="fr-FR" noProof="0" dirty="0"/>
              <a:t>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5303520"/>
            <a:ext cx="2926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Segoe UI"/>
              </a:defRPr>
            </a:pPr>
            <a:r>
              <a:rPr lang="fr-FR" dirty="0"/>
              <a:t>User Stories</a:t>
            </a:r>
            <a:br>
              <a:rPr lang="fr-FR" noProof="0" dirty="0"/>
            </a:br>
            <a:r>
              <a:rPr lang="fr-FR" noProof="0" dirty="0" err="1"/>
              <a:t>serviceProvider</a:t>
            </a:r>
            <a:endParaRPr lang="fr-FR" noProof="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BFFE31-B095-D0EF-5A27-CE757B85B47A}"/>
              </a:ext>
            </a:extLst>
          </p:cNvPr>
          <p:cNvSpPr txBox="1"/>
          <p:nvPr/>
        </p:nvSpPr>
        <p:spPr>
          <a:xfrm>
            <a:off x="4572000" y="5303520"/>
            <a:ext cx="2926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Segoe UI"/>
              </a:defRPr>
            </a:pPr>
            <a:r>
              <a:rPr lang="fr-FR" dirty="0"/>
              <a:t>User Stories</a:t>
            </a:r>
            <a:br>
              <a:rPr lang="fr-FR" dirty="0"/>
            </a:br>
            <a:r>
              <a:rPr lang="fr-FR" dirty="0"/>
              <a:t>Transport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70E19B9-D4E6-453E-DCB5-42E3BD2D1DCF}"/>
              </a:ext>
            </a:extLst>
          </p:cNvPr>
          <p:cNvSpPr/>
          <p:nvPr/>
        </p:nvSpPr>
        <p:spPr>
          <a:xfrm>
            <a:off x="11366389" y="433334"/>
            <a:ext cx="746607" cy="64633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rPr lang="fr-FR" dirty="0"/>
              <a:t>9</a:t>
            </a:r>
            <a:r>
              <a:rPr lang="fr-FR" noProof="0" dirty="0"/>
              <a:t> -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Segoe UI"/>
              </a:defRPr>
            </a:pPr>
            <a:r>
              <a:rPr lang="fr-FR" noProof="0" dirty="0"/>
              <a:t>Prochaines </a:t>
            </a:r>
            <a:r>
              <a:rPr lang="fr-FR" dirty="0"/>
              <a:t>é</a:t>
            </a:r>
            <a:r>
              <a:rPr lang="fr-FR" noProof="0" dirty="0"/>
              <a:t>tapes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434D92F-32D4-FC40-2761-330F7D02DCBE}"/>
              </a:ext>
            </a:extLst>
          </p:cNvPr>
          <p:cNvSpPr/>
          <p:nvPr/>
        </p:nvSpPr>
        <p:spPr>
          <a:xfrm>
            <a:off x="11366389" y="433334"/>
            <a:ext cx="746607" cy="64633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rPr lang="fr-FR" noProof="0" dirty="0"/>
              <a:t>Perspectives &amp; Prochaines Etapes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41148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1707206"/>
            <a:ext cx="5303520" cy="21031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" name="Rectangle 5"/>
          <p:cNvSpPr/>
          <p:nvPr/>
        </p:nvSpPr>
        <p:spPr>
          <a:xfrm>
            <a:off x="457200" y="1546097"/>
            <a:ext cx="53035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640080" y="1844366"/>
            <a:ext cx="49377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  <a:latin typeface="Segoe UI"/>
              </a:defRPr>
            </a:pPr>
            <a:r>
              <a:rPr lang="fr-FR" noProof="0" dirty="0"/>
              <a:t>1</a:t>
            </a:r>
            <a:r>
              <a:rPr lang="fr-FR" baseline="30000" noProof="0" dirty="0"/>
              <a:t>ère</a:t>
            </a:r>
            <a:r>
              <a:rPr lang="fr-FR" noProof="0" dirty="0"/>
              <a:t> Etape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10126"/>
            <a:ext cx="493776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Finaliser l'implémentation de tous les services backend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Développer l'application mobile Flutter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Mettre en place les tests unitaires et d’intégration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Déployer un environnement de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staging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44194" y="1707206"/>
            <a:ext cx="5303520" cy="21031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0" name="Rectangle 9"/>
          <p:cNvSpPr/>
          <p:nvPr/>
        </p:nvSpPr>
        <p:spPr>
          <a:xfrm>
            <a:off x="6344194" y="1542614"/>
            <a:ext cx="5303520" cy="54864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6527074" y="1935806"/>
            <a:ext cx="49377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77F00"/>
                </a:solidFill>
                <a:latin typeface="Segoe UI"/>
              </a:defRPr>
            </a:pPr>
            <a:r>
              <a:rPr lang="fr-FR" noProof="0" dirty="0"/>
              <a:t>2</a:t>
            </a:r>
            <a:r>
              <a:rPr lang="fr-FR" baseline="30000" noProof="0" dirty="0"/>
              <a:t>ème</a:t>
            </a:r>
            <a:r>
              <a:rPr lang="fr-FR" noProof="0" dirty="0"/>
              <a:t> Etape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7074" y="2301566"/>
            <a:ext cx="493776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77F00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Intégration réelle Mobile Money (APIs operateurs)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77F00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Beta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testing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</a:t>
            </a:r>
            <a:r>
              <a:rPr lang="fr-FR" sz="1200" dirty="0">
                <a:solidFill>
                  <a:srgbClr val="CCCCCC"/>
                </a:solidFill>
                <a:latin typeface="Segoe UI"/>
              </a:rPr>
              <a:t>en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local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77F00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Pipeline CI/CD complet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77F00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Déploiement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Kubernetes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en production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839205"/>
            <a:ext cx="5303520" cy="1673789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AF7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4" name="Rectangle 13"/>
          <p:cNvSpPr/>
          <p:nvPr/>
        </p:nvSpPr>
        <p:spPr>
          <a:xfrm>
            <a:off x="457200" y="4601461"/>
            <a:ext cx="5303520" cy="54864"/>
          </a:xfrm>
          <a:prstGeom prst="rect">
            <a:avLst/>
          </a:prstGeom>
          <a:solidFill>
            <a:srgbClr val="AF7A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640080" y="4976365"/>
            <a:ext cx="49377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F7AC5"/>
                </a:solidFill>
                <a:latin typeface="Segoe UI"/>
              </a:defRPr>
            </a:pPr>
            <a:r>
              <a:rPr lang="fr-FR" dirty="0"/>
              <a:t>3</a:t>
            </a:r>
            <a:r>
              <a:rPr lang="fr-FR" baseline="30000" dirty="0"/>
              <a:t>ème</a:t>
            </a:r>
            <a:r>
              <a:rPr lang="fr-FR" dirty="0"/>
              <a:t> Etape</a:t>
            </a:r>
            <a:endParaRPr lang="fr-FR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640080" y="5342125"/>
            <a:ext cx="4937760" cy="851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AF7AC5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Intelligence artificielle : suggestions personnalisées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AF7AC5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Analytics avances pour les commerçants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AF7AC5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Marketplace de services complémentaires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EECEDF2-9BD6-9758-C9D0-A75BCCCB1D8A}"/>
              </a:ext>
            </a:extLst>
          </p:cNvPr>
          <p:cNvSpPr/>
          <p:nvPr/>
        </p:nvSpPr>
        <p:spPr>
          <a:xfrm>
            <a:off x="11366389" y="433334"/>
            <a:ext cx="746607" cy="64633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rPr lang="fr-FR" noProof="0" dirty="0"/>
              <a:t>Merci de votre attention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743200"/>
            <a:ext cx="3931920" cy="36576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418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96C7"/>
                </a:solidFill>
                <a:latin typeface="Segoe UI"/>
              </a:defRPr>
            </a:pPr>
            <a:r>
              <a:rPr lang="fr-FR" noProof="0" dirty="0"/>
              <a:t>BookingSysteme - Plateforme de </a:t>
            </a:r>
            <a:r>
              <a:rPr lang="fr-FR" noProof="0" dirty="0" err="1"/>
              <a:t>reservation</a:t>
            </a:r>
            <a:r>
              <a:rPr lang="fr-FR" noProof="0" dirty="0"/>
              <a:t> multi-services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3891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Segoe UI"/>
              </a:defRPr>
            </a:pPr>
            <a:r>
              <a:rPr lang="fr-FR" noProof="0" dirty="0"/>
              <a:t>Equipe PING 8 | </a:t>
            </a:r>
            <a:r>
              <a:rPr lang="fr-FR" noProof="0" dirty="0" err="1"/>
              <a:t>Fevrier</a:t>
            </a:r>
            <a:r>
              <a:rPr lang="fr-FR" noProof="0" dirty="0"/>
              <a:t>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035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77F00"/>
                </a:solidFill>
                <a:latin typeface="Segoe UI"/>
              </a:defRPr>
            </a:pPr>
            <a:r>
              <a:rPr lang="fr-FR" noProof="0" dirty="0"/>
              <a:t>Questions ?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43AE18A-1395-6B7C-7D3B-AEDED0CC9341}"/>
              </a:ext>
            </a:extLst>
          </p:cNvPr>
          <p:cNvSpPr/>
          <p:nvPr/>
        </p:nvSpPr>
        <p:spPr>
          <a:xfrm>
            <a:off x="11366389" y="433334"/>
            <a:ext cx="746607" cy="64633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rPr lang="fr-FR" noProof="0" dirty="0"/>
              <a:t>00 - </a:t>
            </a:r>
            <a:r>
              <a:rPr lang="fr-FR" noProof="0" dirty="0" err="1"/>
              <a:t>Specificites</a:t>
            </a:r>
            <a:r>
              <a:rPr lang="fr-FR" noProof="0" dirty="0"/>
              <a:t> Contexte Africain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Segoe UI"/>
              </a:defRPr>
            </a:pPr>
            <a:r>
              <a:rPr lang="fr-FR" noProof="0" dirty="0" err="1"/>
              <a:t>African</a:t>
            </a:r>
            <a:r>
              <a:rPr lang="fr-FR" noProof="0" dirty="0"/>
              <a:t> First - Adapte aux </a:t>
            </a:r>
            <a:r>
              <a:rPr lang="fr-FR" noProof="0" dirty="0" err="1"/>
              <a:t>realites</a:t>
            </a:r>
            <a:r>
              <a:rPr lang="fr-FR" noProof="0" dirty="0"/>
              <a:t> locales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rPr lang="fr-FR" noProof="0" dirty="0"/>
              <a:t>Adapte au Contexte Africain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36576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1508760"/>
            <a:ext cx="5303520" cy="175564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" name="Rectangle 5"/>
          <p:cNvSpPr/>
          <p:nvPr/>
        </p:nvSpPr>
        <p:spPr>
          <a:xfrm>
            <a:off x="457200" y="1356360"/>
            <a:ext cx="5303520" cy="54864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77F00"/>
                </a:solidFill>
                <a:latin typeface="Segoe UI"/>
              </a:defRPr>
            </a:pPr>
            <a:r>
              <a:rPr lang="fr-FR" noProof="0" dirty="0"/>
              <a:t>Mobile Money - </a:t>
            </a:r>
            <a:r>
              <a:rPr lang="fr-FR" noProof="0" dirty="0" err="1"/>
              <a:t>Priorite</a:t>
            </a:r>
            <a:r>
              <a:rPr lang="fr-FR" noProof="0" dirty="0"/>
              <a:t> absolue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493776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77F00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90% des paiements en Afrique = Mobile Money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77F00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Orange Money, MTN Money, Moov Money,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Wave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, Airtel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77F00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Gestion robuste des timeouts et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retry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(APIs instables)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77F00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Confirmation asynchrone (3-5 minutes)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08760"/>
            <a:ext cx="5303520" cy="175564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0" name="Rectangle 9"/>
          <p:cNvSpPr/>
          <p:nvPr/>
        </p:nvSpPr>
        <p:spPr>
          <a:xfrm>
            <a:off x="6309360" y="1356360"/>
            <a:ext cx="53035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  <a:latin typeface="Segoe UI"/>
              </a:defRPr>
            </a:pPr>
            <a:r>
              <a:rPr lang="fr-FR" noProof="0" dirty="0"/>
              <a:t>Paiement sur place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4937760" cy="851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Pratique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tres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courante (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mefiance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paiement en ligne)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Option essentielle pour l'adoption de la plateforme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Confirmation manuelle par le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commercant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57200" y="4297680"/>
            <a:ext cx="5303520" cy="1728216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AF7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4" name="Rectangle 13"/>
          <p:cNvSpPr/>
          <p:nvPr/>
        </p:nvSpPr>
        <p:spPr>
          <a:xfrm>
            <a:off x="457200" y="4102608"/>
            <a:ext cx="5303520" cy="54864"/>
          </a:xfrm>
          <a:prstGeom prst="rect">
            <a:avLst/>
          </a:prstGeom>
          <a:solidFill>
            <a:srgbClr val="AF7A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640080" y="4434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F7AC5"/>
                </a:solidFill>
                <a:latin typeface="Segoe UI"/>
              </a:defRPr>
            </a:pPr>
            <a:r>
              <a:rPr lang="fr-FR" noProof="0" dirty="0"/>
              <a:t>Devises &amp; </a:t>
            </a:r>
            <a:r>
              <a:rPr lang="fr-FR" noProof="0" dirty="0" err="1"/>
              <a:t>Evenements</a:t>
            </a:r>
            <a:endParaRPr lang="fr-FR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640080" y="4800600"/>
            <a:ext cx="493776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AF7AC5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Support FCFA (XOF, XAF), USD, EUR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AF7AC5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Taux de change dynamiques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AF7AC5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Paiement fractionne (acompte + solde)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AF7AC5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Cagnottes collectives (mariages,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baptemes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297680"/>
            <a:ext cx="5303520" cy="1728216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8" name="Rectangle 17"/>
          <p:cNvSpPr/>
          <p:nvPr/>
        </p:nvSpPr>
        <p:spPr>
          <a:xfrm>
            <a:off x="6309360" y="4102608"/>
            <a:ext cx="530352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6492240" y="4434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C7"/>
                </a:solidFill>
                <a:latin typeface="Segoe UI"/>
              </a:defRPr>
            </a:pPr>
            <a:r>
              <a:rPr lang="fr-FR" noProof="0" dirty="0"/>
              <a:t>Adaptations 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800600"/>
            <a:ext cx="4937760" cy="851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Interface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simplifiee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pour adoption rapide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Support SMS (pas seulement internet)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Notifications USSD pour Mobile Money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4DE6BF-6D1F-8BCE-39E1-646584889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4E4AD7-1563-87FE-69C2-542C65EA3B16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F88272-C348-831C-1839-53D3CDF80742}"/>
              </a:ext>
            </a:extLst>
          </p:cNvPr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rPr lang="fr-FR" noProof="0" dirty="0"/>
              <a:t>Services </a:t>
            </a:r>
            <a:r>
              <a:rPr lang="fr-FR" noProof="0" dirty="0" err="1"/>
              <a:t>Core</a:t>
            </a:r>
            <a:r>
              <a:rPr lang="fr-FR" noProof="0" dirty="0"/>
              <a:t> - Paiement &amp; Orchestration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47AFCE-65AD-469B-760B-D61267A96FA7}"/>
              </a:ext>
            </a:extLst>
          </p:cNvPr>
          <p:cNvSpPr/>
          <p:nvPr/>
        </p:nvSpPr>
        <p:spPr>
          <a:xfrm>
            <a:off x="731520" y="960120"/>
            <a:ext cx="45720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B90EF96-9AE7-B641-987B-816A1C894F7B}"/>
              </a:ext>
            </a:extLst>
          </p:cNvPr>
          <p:cNvSpPr/>
          <p:nvPr/>
        </p:nvSpPr>
        <p:spPr>
          <a:xfrm>
            <a:off x="457200" y="1371600"/>
            <a:ext cx="3474720" cy="24688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FCBA4C-83B3-8E43-391C-061DE624DDAF}"/>
              </a:ext>
            </a:extLst>
          </p:cNvPr>
          <p:cNvSpPr/>
          <p:nvPr/>
        </p:nvSpPr>
        <p:spPr>
          <a:xfrm>
            <a:off x="457200" y="1371600"/>
            <a:ext cx="3474720" cy="54864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2C0AA-0A52-4470-306F-49FAD1066E0B}"/>
              </a:ext>
            </a:extLst>
          </p:cNvPr>
          <p:cNvSpPr txBox="1"/>
          <p:nvPr/>
        </p:nvSpPr>
        <p:spPr>
          <a:xfrm>
            <a:off x="640080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77F00"/>
                </a:solidFill>
                <a:latin typeface="Segoe UI"/>
              </a:defRPr>
            </a:pPr>
            <a:r>
              <a:rPr lang="fr-FR" noProof="0" dirty="0" err="1"/>
              <a:t>Payment</a:t>
            </a:r>
            <a:r>
              <a:rPr lang="fr-FR" noProof="0" dirty="0"/>
              <a:t> Service (3004)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D56725-3B17-055E-7F46-449C9990E1FC}"/>
              </a:ext>
            </a:extLst>
          </p:cNvPr>
          <p:cNvSpPr txBox="1"/>
          <p:nvPr/>
        </p:nvSpPr>
        <p:spPr>
          <a:xfrm>
            <a:off x="640080" y="18745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77F00"/>
                </a:solidFill>
                <a:latin typeface="Segoe UI"/>
              </a:rPr>
              <a:t>▸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Stripe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(carte bancaire, 3D Secure)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77F00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Mobile Money (Orange, MTN,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Wave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...)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77F00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Paiement sur place (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especes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77F00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Remboursements &amp; factures PDF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77F00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Commissions plateforme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8DFC020-574E-593F-3814-4030FFBEE947}"/>
              </a:ext>
            </a:extLst>
          </p:cNvPr>
          <p:cNvSpPr/>
          <p:nvPr/>
        </p:nvSpPr>
        <p:spPr>
          <a:xfrm>
            <a:off x="4297680" y="1371600"/>
            <a:ext cx="3474720" cy="24688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073C29-A140-937E-A57A-43D6D9A70BB5}"/>
              </a:ext>
            </a:extLst>
          </p:cNvPr>
          <p:cNvSpPr/>
          <p:nvPr/>
        </p:nvSpPr>
        <p:spPr>
          <a:xfrm>
            <a:off x="4297680" y="1371600"/>
            <a:ext cx="34747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6161C7-03BE-2ECC-B309-677CDF62FBD9}"/>
              </a:ext>
            </a:extLst>
          </p:cNvPr>
          <p:cNvSpPr txBox="1"/>
          <p:nvPr/>
        </p:nvSpPr>
        <p:spPr>
          <a:xfrm>
            <a:off x="4480560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  <a:latin typeface="Segoe UI"/>
              </a:defRPr>
            </a:pPr>
            <a:r>
              <a:rPr lang="fr-FR" noProof="0" dirty="0" err="1"/>
              <a:t>Booking</a:t>
            </a:r>
            <a:r>
              <a:rPr lang="fr-FR" noProof="0" dirty="0"/>
              <a:t> Service (3003)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4B3472-94B1-6335-489E-F5519E9EB040}"/>
              </a:ext>
            </a:extLst>
          </p:cNvPr>
          <p:cNvSpPr txBox="1"/>
          <p:nvPr/>
        </p:nvSpPr>
        <p:spPr>
          <a:xfrm>
            <a:off x="4480560" y="18745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Orchestration des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reservations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Coordination entre services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Verification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disponibilite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Gestion statuts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reservation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2ECC71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Historique et annulations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914A293-FEB8-9922-4D14-CC4B24E7E671}"/>
              </a:ext>
            </a:extLst>
          </p:cNvPr>
          <p:cNvSpPr/>
          <p:nvPr/>
        </p:nvSpPr>
        <p:spPr>
          <a:xfrm>
            <a:off x="8138160" y="1371600"/>
            <a:ext cx="3474720" cy="24688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DDD30A-A7A8-7A93-B5CE-164FD96DEFC2}"/>
              </a:ext>
            </a:extLst>
          </p:cNvPr>
          <p:cNvSpPr/>
          <p:nvPr/>
        </p:nvSpPr>
        <p:spPr>
          <a:xfrm>
            <a:off x="8138160" y="1371600"/>
            <a:ext cx="347472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2AEA99-F623-AC79-7005-B945F904DC44}"/>
              </a:ext>
            </a:extLst>
          </p:cNvPr>
          <p:cNvSpPr txBox="1"/>
          <p:nvPr/>
        </p:nvSpPr>
        <p:spPr>
          <a:xfrm>
            <a:off x="8321040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C7"/>
                </a:solidFill>
                <a:latin typeface="Segoe UI"/>
              </a:defRPr>
            </a:pPr>
            <a:r>
              <a:rPr lang="fr-FR" noProof="0" dirty="0" err="1"/>
              <a:t>Auth</a:t>
            </a:r>
            <a:r>
              <a:rPr lang="fr-FR" noProof="0" dirty="0"/>
              <a:t> Service (3001)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A02148-61FB-7CA0-45A1-071787B94575}"/>
              </a:ext>
            </a:extLst>
          </p:cNvPr>
          <p:cNvSpPr txBox="1"/>
          <p:nvPr/>
        </p:nvSpPr>
        <p:spPr>
          <a:xfrm>
            <a:off x="8321040" y="18745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Inscription / Connexion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JWT +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Refresh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tokens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OAuth2 (Google, Facebook)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Gestion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roles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(client/marchand)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0096C7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OTP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verification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CDE20F3-1DB4-3188-2D3A-D3441A51FD0D}"/>
              </a:ext>
            </a:extLst>
          </p:cNvPr>
          <p:cNvSpPr/>
          <p:nvPr/>
        </p:nvSpPr>
        <p:spPr>
          <a:xfrm>
            <a:off x="2286000" y="4114800"/>
            <a:ext cx="3474720" cy="24688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C80DD6-ED4E-F322-52BC-59CFDAA1D920}"/>
              </a:ext>
            </a:extLst>
          </p:cNvPr>
          <p:cNvSpPr/>
          <p:nvPr/>
        </p:nvSpPr>
        <p:spPr>
          <a:xfrm>
            <a:off x="2286000" y="4114800"/>
            <a:ext cx="347472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C2EB85-013D-2470-EE57-6B597AFA4664}"/>
              </a:ext>
            </a:extLst>
          </p:cNvPr>
          <p:cNvSpPr txBox="1"/>
          <p:nvPr/>
        </p:nvSpPr>
        <p:spPr>
          <a:xfrm>
            <a:off x="2468880" y="4251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  <a:latin typeface="Segoe UI"/>
              </a:defRPr>
            </a:pPr>
            <a:r>
              <a:rPr lang="fr-FR" noProof="0" dirty="0"/>
              <a:t>Notification Service (3005)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4A3FB3-D4BC-9895-D327-A56A97A58246}"/>
              </a:ext>
            </a:extLst>
          </p:cNvPr>
          <p:cNvSpPr txBox="1"/>
          <p:nvPr/>
        </p:nvSpPr>
        <p:spPr>
          <a:xfrm>
            <a:off x="2468880" y="46177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39C12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Emails transactionnels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39C12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SMS (confirmation, rappels)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39C12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Push notifications mobiles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39C12"/>
                </a:solidFill>
                <a:latin typeface="Segoe UI"/>
              </a:rPr>
              <a:t>▸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Templates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personnalisables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F39C12"/>
                </a:solidFill>
                <a:latin typeface="Segoe UI"/>
              </a:rPr>
              <a:t>▸ 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Envoi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evenementiel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(Pub/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Sub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)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B7F1F6C-33A9-A1EF-DAA9-A86B15A8274D}"/>
              </a:ext>
            </a:extLst>
          </p:cNvPr>
          <p:cNvSpPr/>
          <p:nvPr/>
        </p:nvSpPr>
        <p:spPr>
          <a:xfrm>
            <a:off x="6309360" y="4114800"/>
            <a:ext cx="3474720" cy="24688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981C246-7EA5-3C14-B197-60A28E7626B8}"/>
              </a:ext>
            </a:extLst>
          </p:cNvPr>
          <p:cNvSpPr/>
          <p:nvPr/>
        </p:nvSpPr>
        <p:spPr>
          <a:xfrm>
            <a:off x="6309360" y="4114800"/>
            <a:ext cx="347472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9494D7-775E-1400-069E-8FE235A31F7A}"/>
              </a:ext>
            </a:extLst>
          </p:cNvPr>
          <p:cNvSpPr txBox="1"/>
          <p:nvPr/>
        </p:nvSpPr>
        <p:spPr>
          <a:xfrm>
            <a:off x="6492240" y="4251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CCCCC"/>
                </a:solidFill>
                <a:latin typeface="Segoe UI"/>
              </a:defRPr>
            </a:pPr>
            <a:r>
              <a:rPr lang="fr-FR" noProof="0" dirty="0"/>
              <a:t>Resource </a:t>
            </a:r>
            <a:r>
              <a:rPr lang="fr-FR" noProof="0" dirty="0" err="1"/>
              <a:t>Core</a:t>
            </a:r>
            <a:r>
              <a:rPr lang="fr-FR" noProof="0" dirty="0"/>
              <a:t> (3002)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9387E9-43FA-8555-F2C5-17F697C5030A}"/>
              </a:ext>
            </a:extLst>
          </p:cNvPr>
          <p:cNvSpPr txBox="1"/>
          <p:nvPr/>
        </p:nvSpPr>
        <p:spPr>
          <a:xfrm>
            <a:off x="6492240" y="46177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▸ Gestion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centralisee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des ressources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▸ Tables, chambres,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sieges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,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creneaux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▸ API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partagee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inter-services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▸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Controle</a:t>
            </a: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 de </a:t>
            </a:r>
            <a:r>
              <a:rPr lang="fr-FR" sz="1200" noProof="0" dirty="0" err="1">
                <a:solidFill>
                  <a:srgbClr val="CCCCCC"/>
                </a:solidFill>
                <a:latin typeface="Segoe UI"/>
              </a:rPr>
              <a:t>coherence</a:t>
            </a:r>
            <a:endParaRPr lang="fr-FR" sz="1200" noProof="0" dirty="0">
              <a:solidFill>
                <a:srgbClr val="CCCCCC"/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fr-FR" sz="1200" noProof="0" dirty="0">
                <a:solidFill>
                  <a:srgbClr val="CCCCCC"/>
                </a:solidFill>
                <a:latin typeface="Segoe UI"/>
              </a:rPr>
              <a:t>▸ Allocation multi-ressources</a:t>
            </a:r>
          </a:p>
        </p:txBody>
      </p:sp>
    </p:spTree>
    <p:extLst>
      <p:ext uri="{BB962C8B-B14F-4D97-AF65-F5344CB8AC3E}">
        <p14:creationId xmlns:p14="http://schemas.microsoft.com/office/powerpoint/2010/main" val="1461770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2003</Words>
  <Application>Microsoft Office PowerPoint</Application>
  <PresentationFormat>Widescreen</PresentationFormat>
  <Paragraphs>428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Aptos</vt:lpstr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Jean Louis DAYAMBA</cp:lastModifiedBy>
  <cp:revision>11</cp:revision>
  <dcterms:created xsi:type="dcterms:W3CDTF">2013-01-27T09:14:16Z</dcterms:created>
  <dcterms:modified xsi:type="dcterms:W3CDTF">2026-02-13T08:51:04Z</dcterms:modified>
  <cp:category/>
</cp:coreProperties>
</file>